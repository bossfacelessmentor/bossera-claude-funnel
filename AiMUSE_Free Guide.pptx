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4A3E"/>
        </a:solidFill>
      </p:bgPr>
    </p:bg>
    <p:spTree>
      <p:nvGrpSpPr>
        <p:cNvPr id="1" name=""/>
        <p:cNvGrpSpPr/>
        <p:nvPr/>
      </p:nvGrpSpPr>
      <p:grpSpPr>
        <a:xfrm>
          <a:off x="0" y="0"/>
          <a:ext cx="0" cy="0"/>
          <a:chOff x="0" y="0"/>
          <a:chExt cx="0" cy="0"/>
        </a:xfrm>
      </p:grpSpPr>
      <p:sp>
        <p:nvSpPr>
          <p:cNvPr id="2" name="Shape 0"/>
          <p:cNvSpPr/>
          <p:nvPr/>
        </p:nvSpPr>
        <p:spPr>
          <a:xfrm>
            <a:off x="5486400" y="0"/>
            <a:ext cx="3657600" cy="5143500"/>
          </a:xfrm>
          <a:prstGeom prst="rect">
            <a:avLst/>
          </a:prstGeom>
          <a:solidFill>
            <a:srgbClr val="EACDC0"/>
          </a:solidFill>
          <a:ln/>
        </p:spPr>
      </p:sp>
      <p:sp>
        <p:nvSpPr>
          <p:cNvPr id="3" name="Shape 1"/>
          <p:cNvSpPr/>
          <p:nvPr/>
        </p:nvSpPr>
        <p:spPr>
          <a:xfrm>
            <a:off x="5486400" y="0"/>
            <a:ext cx="36576" cy="5143500"/>
          </a:xfrm>
          <a:prstGeom prst="rect">
            <a:avLst/>
          </a:prstGeom>
          <a:solidFill>
            <a:srgbClr val="C9A96E"/>
          </a:solidFill>
          <a:ln/>
        </p:spPr>
      </p:sp>
      <p:pic>
        <p:nvPicPr>
          <p:cNvPr id="4" name="Image 0" descr="preencoded.png">    </p:cNvPr>
          <p:cNvPicPr>
            <a:picLocks noChangeAspect="1"/>
          </p:cNvPicPr>
          <p:nvPr/>
        </p:nvPicPr>
        <p:blipFill>
          <a:blip r:embed="rId1"/>
          <a:stretch>
            <a:fillRect/>
          </a:stretch>
        </p:blipFill>
        <p:spPr>
          <a:xfrm>
            <a:off x="6035040" y="822960"/>
            <a:ext cx="2560320" cy="2542032"/>
          </a:xfrm>
          <a:prstGeom prst="rect">
            <a:avLst/>
          </a:prstGeom>
        </p:spPr>
      </p:pic>
      <p:sp>
        <p:nvSpPr>
          <p:cNvPr id="5" name="Shape 2"/>
          <p:cNvSpPr/>
          <p:nvPr/>
        </p:nvSpPr>
        <p:spPr>
          <a:xfrm>
            <a:off x="5715000" y="3611880"/>
            <a:ext cx="960120" cy="777240"/>
          </a:xfrm>
          <a:prstGeom prst="rect">
            <a:avLst/>
          </a:prstGeom>
          <a:solidFill>
            <a:srgbClr val="F5EFE8"/>
          </a:solidFill>
          <a:ln/>
        </p:spPr>
      </p:sp>
      <p:sp>
        <p:nvSpPr>
          <p:cNvPr id="6" name="Text 3"/>
          <p:cNvSpPr/>
          <p:nvPr/>
        </p:nvSpPr>
        <p:spPr>
          <a:xfrm>
            <a:off x="5715000" y="3639312"/>
            <a:ext cx="960120" cy="347472"/>
          </a:xfrm>
          <a:prstGeom prst="rect">
            <a:avLst/>
          </a:prstGeom>
          <a:noFill/>
          <a:ln/>
        </p:spPr>
        <p:txBody>
          <a:bodyPr wrap="square" lIns="0" tIns="0" rIns="0" bIns="0" rtlCol="0" anchor="ctr"/>
          <a:lstStyle/>
          <a:p>
            <a:pPr algn="ctr" indent="0" marL="0">
              <a:buNone/>
            </a:pPr>
            <a:r>
              <a:rPr lang="en-US" sz="1400" b="1" dirty="0">
                <a:solidFill>
                  <a:srgbClr val="2C4A3E"/>
                </a:solidFill>
              </a:rPr>
              <a:t>1.6K+</a:t>
            </a:r>
            <a:endParaRPr lang="en-US" sz="1400" dirty="0"/>
          </a:p>
        </p:txBody>
      </p:sp>
      <p:sp>
        <p:nvSpPr>
          <p:cNvPr id="7" name="Text 4"/>
          <p:cNvSpPr/>
          <p:nvPr/>
        </p:nvSpPr>
        <p:spPr>
          <a:xfrm>
            <a:off x="5715000" y="3959352"/>
            <a:ext cx="960120" cy="256032"/>
          </a:xfrm>
          <a:prstGeom prst="rect">
            <a:avLst/>
          </a:prstGeom>
          <a:noFill/>
          <a:ln/>
        </p:spPr>
        <p:txBody>
          <a:bodyPr wrap="square" lIns="0" tIns="0" rIns="0" bIns="0" rtlCol="0" anchor="ctr"/>
          <a:lstStyle/>
          <a:p>
            <a:pPr algn="ctr" indent="0" marL="0">
              <a:buNone/>
            </a:pPr>
            <a:r>
              <a:rPr lang="en-US" sz="700" dirty="0">
                <a:solidFill>
                  <a:srgbClr val="6B4C3B"/>
                </a:solidFill>
              </a:rPr>
              <a:t>Muses</a:t>
            </a:r>
            <a:endParaRPr lang="en-US" sz="700" dirty="0"/>
          </a:p>
        </p:txBody>
      </p:sp>
      <p:sp>
        <p:nvSpPr>
          <p:cNvPr id="8" name="Shape 5"/>
          <p:cNvSpPr/>
          <p:nvPr/>
        </p:nvSpPr>
        <p:spPr>
          <a:xfrm>
            <a:off x="6830568" y="3611880"/>
            <a:ext cx="960120" cy="777240"/>
          </a:xfrm>
          <a:prstGeom prst="rect">
            <a:avLst/>
          </a:prstGeom>
          <a:solidFill>
            <a:srgbClr val="F5EFE8"/>
          </a:solidFill>
          <a:ln/>
        </p:spPr>
      </p:sp>
      <p:sp>
        <p:nvSpPr>
          <p:cNvPr id="9" name="Text 6"/>
          <p:cNvSpPr/>
          <p:nvPr/>
        </p:nvSpPr>
        <p:spPr>
          <a:xfrm>
            <a:off x="6830568" y="3639312"/>
            <a:ext cx="960120" cy="347472"/>
          </a:xfrm>
          <a:prstGeom prst="rect">
            <a:avLst/>
          </a:prstGeom>
          <a:noFill/>
          <a:ln/>
        </p:spPr>
        <p:txBody>
          <a:bodyPr wrap="square" lIns="0" tIns="0" rIns="0" bIns="0" rtlCol="0" anchor="ctr"/>
          <a:lstStyle/>
          <a:p>
            <a:pPr algn="ctr" indent="0" marL="0">
              <a:buNone/>
            </a:pPr>
            <a:r>
              <a:rPr lang="en-US" sz="1400" b="1" dirty="0">
                <a:solidFill>
                  <a:srgbClr val="2C4A3E"/>
                </a:solidFill>
              </a:rPr>
              <a:t>2K+</a:t>
            </a:r>
            <a:endParaRPr lang="en-US" sz="1400" dirty="0"/>
          </a:p>
        </p:txBody>
      </p:sp>
      <p:sp>
        <p:nvSpPr>
          <p:cNvPr id="10" name="Text 7"/>
          <p:cNvSpPr/>
          <p:nvPr/>
        </p:nvSpPr>
        <p:spPr>
          <a:xfrm>
            <a:off x="6830568" y="3959352"/>
            <a:ext cx="960120" cy="256032"/>
          </a:xfrm>
          <a:prstGeom prst="rect">
            <a:avLst/>
          </a:prstGeom>
          <a:noFill/>
          <a:ln/>
        </p:spPr>
        <p:txBody>
          <a:bodyPr wrap="square" lIns="0" tIns="0" rIns="0" bIns="0" rtlCol="0" anchor="ctr"/>
          <a:lstStyle/>
          <a:p>
            <a:pPr algn="ctr" indent="0" marL="0">
              <a:buNone/>
            </a:pPr>
            <a:r>
              <a:rPr lang="en-US" sz="700" dirty="0">
                <a:solidFill>
                  <a:srgbClr val="6B4C3B"/>
                </a:solidFill>
              </a:rPr>
              <a:t>AI Prompts</a:t>
            </a:r>
            <a:endParaRPr lang="en-US" sz="700" dirty="0"/>
          </a:p>
        </p:txBody>
      </p:sp>
      <p:sp>
        <p:nvSpPr>
          <p:cNvPr id="11" name="Shape 8"/>
          <p:cNvSpPr/>
          <p:nvPr/>
        </p:nvSpPr>
        <p:spPr>
          <a:xfrm>
            <a:off x="7946136" y="3611880"/>
            <a:ext cx="960120" cy="777240"/>
          </a:xfrm>
          <a:prstGeom prst="rect">
            <a:avLst/>
          </a:prstGeom>
          <a:solidFill>
            <a:srgbClr val="F5EFE8"/>
          </a:solidFill>
          <a:ln/>
        </p:spPr>
      </p:sp>
      <p:sp>
        <p:nvSpPr>
          <p:cNvPr id="12" name="Text 9"/>
          <p:cNvSpPr/>
          <p:nvPr/>
        </p:nvSpPr>
        <p:spPr>
          <a:xfrm>
            <a:off x="7946136" y="3639312"/>
            <a:ext cx="960120" cy="347472"/>
          </a:xfrm>
          <a:prstGeom prst="rect">
            <a:avLst/>
          </a:prstGeom>
          <a:noFill/>
          <a:ln/>
        </p:spPr>
        <p:txBody>
          <a:bodyPr wrap="square" lIns="0" tIns="0" rIns="0" bIns="0" rtlCol="0" anchor="ctr"/>
          <a:lstStyle/>
          <a:p>
            <a:pPr algn="ctr" indent="0" marL="0">
              <a:buNone/>
            </a:pPr>
            <a:r>
              <a:rPr lang="en-US" sz="1400" b="1" dirty="0">
                <a:solidFill>
                  <a:srgbClr val="2C4A3E"/>
                </a:solidFill>
              </a:rPr>
              <a:t>4+</a:t>
            </a:r>
            <a:endParaRPr lang="en-US" sz="1400" dirty="0"/>
          </a:p>
        </p:txBody>
      </p:sp>
      <p:sp>
        <p:nvSpPr>
          <p:cNvPr id="13" name="Text 10"/>
          <p:cNvSpPr/>
          <p:nvPr/>
        </p:nvSpPr>
        <p:spPr>
          <a:xfrm>
            <a:off x="7946136" y="3959352"/>
            <a:ext cx="960120" cy="256032"/>
          </a:xfrm>
          <a:prstGeom prst="rect">
            <a:avLst/>
          </a:prstGeom>
          <a:noFill/>
          <a:ln/>
        </p:spPr>
        <p:txBody>
          <a:bodyPr wrap="square" lIns="0" tIns="0" rIns="0" bIns="0" rtlCol="0" anchor="ctr"/>
          <a:lstStyle/>
          <a:p>
            <a:pPr algn="ctr" indent="0" marL="0">
              <a:buNone/>
            </a:pPr>
            <a:r>
              <a:rPr lang="en-US" sz="700" dirty="0">
                <a:solidFill>
                  <a:srgbClr val="6B4C3B"/>
                </a:solidFill>
              </a:rPr>
              <a:t>Muse Bots</a:t>
            </a:r>
            <a:endParaRPr lang="en-US" sz="700" dirty="0"/>
          </a:p>
        </p:txBody>
      </p:sp>
      <p:sp>
        <p:nvSpPr>
          <p:cNvPr id="14" name="Text 11"/>
          <p:cNvSpPr/>
          <p:nvPr/>
        </p:nvSpPr>
        <p:spPr>
          <a:xfrm>
            <a:off x="411480" y="502920"/>
            <a:ext cx="4754880" cy="256032"/>
          </a:xfrm>
          <a:prstGeom prst="rect">
            <a:avLst/>
          </a:prstGeom>
          <a:noFill/>
          <a:ln/>
        </p:spPr>
        <p:txBody>
          <a:bodyPr wrap="square" lIns="0" tIns="0" rIns="0" bIns="0" rtlCol="0" anchor="ctr"/>
          <a:lstStyle/>
          <a:p>
            <a:pPr algn="l" indent="0" marL="0">
              <a:buNone/>
            </a:pPr>
            <a:r>
              <a:rPr lang="en-US" sz="750" b="1" spc="300" kern="0" dirty="0">
                <a:solidFill>
                  <a:srgbClr val="C9A96E"/>
                </a:solidFill>
              </a:rPr>
              <a:t>BOSS ERA™ × AIMUSE ALCHEMY™</a:t>
            </a:r>
            <a:endParaRPr lang="en-US" sz="750" dirty="0"/>
          </a:p>
        </p:txBody>
      </p:sp>
      <p:sp>
        <p:nvSpPr>
          <p:cNvPr id="15" name="Text 12"/>
          <p:cNvSpPr/>
          <p:nvPr/>
        </p:nvSpPr>
        <p:spPr>
          <a:xfrm>
            <a:off x="411480" y="960120"/>
            <a:ext cx="4754880" cy="457200"/>
          </a:xfrm>
          <a:prstGeom prst="rect">
            <a:avLst/>
          </a:prstGeom>
          <a:noFill/>
          <a:ln/>
        </p:spPr>
        <p:txBody>
          <a:bodyPr wrap="square" lIns="0" tIns="0" rIns="0" bIns="0" rtlCol="0" anchor="ctr"/>
          <a:lstStyle/>
          <a:p>
            <a:pPr algn="l" indent="0" marL="0">
              <a:buNone/>
            </a:pPr>
            <a:r>
              <a:rPr lang="en-US" sz="1800" b="1" dirty="0">
                <a:solidFill>
                  <a:srgbClr val="FFFFFF"/>
                </a:solidFill>
              </a:rPr>
              <a:t>Free Guide:</a:t>
            </a:r>
            <a:endParaRPr lang="en-US" sz="1800" dirty="0"/>
          </a:p>
        </p:txBody>
      </p:sp>
      <p:sp>
        <p:nvSpPr>
          <p:cNvPr id="16" name="Text 13"/>
          <p:cNvSpPr/>
          <p:nvPr/>
        </p:nvSpPr>
        <p:spPr>
          <a:xfrm>
            <a:off x="411480" y="1371600"/>
            <a:ext cx="4754880" cy="594360"/>
          </a:xfrm>
          <a:prstGeom prst="rect">
            <a:avLst/>
          </a:prstGeom>
          <a:noFill/>
          <a:ln/>
        </p:spPr>
        <p:txBody>
          <a:bodyPr wrap="square" lIns="0" tIns="0" rIns="0" bIns="0" rtlCol="0" anchor="ctr"/>
          <a:lstStyle/>
          <a:p>
            <a:pPr algn="l" indent="0" marL="0">
              <a:buNone/>
            </a:pPr>
            <a:r>
              <a:rPr lang="en-US" sz="3400" b="1" dirty="0">
                <a:solidFill>
                  <a:srgbClr val="FFFFFF"/>
                </a:solidFill>
              </a:rPr>
              <a:t>How to Start</a:t>
            </a:r>
            <a:endParaRPr lang="en-US" sz="3400" dirty="0"/>
          </a:p>
        </p:txBody>
      </p:sp>
      <p:sp>
        <p:nvSpPr>
          <p:cNvPr id="17" name="Text 14"/>
          <p:cNvSpPr/>
          <p:nvPr/>
        </p:nvSpPr>
        <p:spPr>
          <a:xfrm>
            <a:off x="411480" y="1920240"/>
            <a:ext cx="4754880" cy="594360"/>
          </a:xfrm>
          <a:prstGeom prst="rect">
            <a:avLst/>
          </a:prstGeom>
          <a:noFill/>
          <a:ln/>
        </p:spPr>
        <p:txBody>
          <a:bodyPr wrap="square" lIns="0" tIns="0" rIns="0" bIns="0" rtlCol="0" anchor="ctr"/>
          <a:lstStyle/>
          <a:p>
            <a:pPr algn="l" indent="0" marL="0">
              <a:buNone/>
            </a:pPr>
            <a:r>
              <a:rPr lang="en-US" sz="3400" b="1" dirty="0">
                <a:solidFill>
                  <a:srgbClr val="EACDC0"/>
                </a:solidFill>
              </a:rPr>
              <a:t>Building an</a:t>
            </a:r>
            <a:endParaRPr lang="en-US" sz="3400" dirty="0"/>
          </a:p>
        </p:txBody>
      </p:sp>
      <p:sp>
        <p:nvSpPr>
          <p:cNvPr id="18" name="Text 15"/>
          <p:cNvSpPr/>
          <p:nvPr/>
        </p:nvSpPr>
        <p:spPr>
          <a:xfrm>
            <a:off x="411480" y="2468880"/>
            <a:ext cx="4754880" cy="594360"/>
          </a:xfrm>
          <a:prstGeom prst="rect">
            <a:avLst/>
          </a:prstGeom>
          <a:noFill/>
          <a:ln/>
        </p:spPr>
        <p:txBody>
          <a:bodyPr wrap="square" lIns="0" tIns="0" rIns="0" bIns="0" rtlCol="0" anchor="ctr"/>
          <a:lstStyle/>
          <a:p>
            <a:pPr algn="l" indent="0" marL="0">
              <a:buNone/>
            </a:pPr>
            <a:r>
              <a:rPr lang="en-US" sz="3400" b="1" dirty="0">
                <a:solidFill>
                  <a:srgbClr val="EACDC0"/>
                </a:solidFill>
              </a:rPr>
              <a:t>AI Influencer</a:t>
            </a:r>
            <a:endParaRPr lang="en-US" sz="3400" dirty="0"/>
          </a:p>
        </p:txBody>
      </p:sp>
      <p:sp>
        <p:nvSpPr>
          <p:cNvPr id="19" name="Text 16"/>
          <p:cNvSpPr/>
          <p:nvPr/>
        </p:nvSpPr>
        <p:spPr>
          <a:xfrm>
            <a:off x="411480" y="3218688"/>
            <a:ext cx="4663440" cy="658368"/>
          </a:xfrm>
          <a:prstGeom prst="rect">
            <a:avLst/>
          </a:prstGeom>
          <a:noFill/>
          <a:ln/>
        </p:spPr>
        <p:txBody>
          <a:bodyPr wrap="square" lIns="0" tIns="0" rIns="0" bIns="0" rtlCol="0" anchor="ctr"/>
          <a:lstStyle/>
          <a:p>
            <a:pPr algn="l" indent="0" marL="0">
              <a:buNone/>
            </a:pPr>
            <a:r>
              <a:rPr lang="en-US" sz="1100" dirty="0">
                <a:solidFill>
                  <a:srgbClr val="D9CFC6"/>
                </a:solidFill>
              </a:rPr>
              <a:t>The feminine framework for AI-powered</a:t>
            </a:r>
            <a:endParaRPr lang="en-US" sz="1100" dirty="0"/>
          </a:p>
          <a:p>
            <a:pPr algn="l" indent="0" marL="0">
              <a:buNone/>
            </a:pPr>
            <a:r>
              <a:rPr lang="en-US" sz="1100" dirty="0">
                <a:solidFill>
                  <a:srgbClr val="D9CFC6"/>
                </a:solidFill>
              </a:rPr>
              <a:t>authority, content, and digital income.</a:t>
            </a:r>
            <a:endParaRPr lang="en-US" sz="1100" dirty="0"/>
          </a:p>
        </p:txBody>
      </p:sp>
      <p:sp>
        <p:nvSpPr>
          <p:cNvPr id="20" name="Text 17"/>
          <p:cNvSpPr/>
          <p:nvPr/>
        </p:nvSpPr>
        <p:spPr>
          <a:xfrm>
            <a:off x="411480" y="4041648"/>
            <a:ext cx="3200400" cy="256032"/>
          </a:xfrm>
          <a:prstGeom prst="rect">
            <a:avLst/>
          </a:prstGeom>
          <a:noFill/>
          <a:ln/>
        </p:spPr>
        <p:txBody>
          <a:bodyPr wrap="square" lIns="0" tIns="0" rIns="0" bIns="0" rtlCol="0" anchor="ctr"/>
          <a:lstStyle/>
          <a:p>
            <a:pPr algn="l" indent="0" marL="0">
              <a:buNone/>
            </a:pPr>
            <a:r>
              <a:rPr lang="en-US" sz="800" i="1" dirty="0">
                <a:solidFill>
                  <a:srgbClr val="C9A96E"/>
                </a:solidFill>
              </a:rPr>
              <a:t>bossfacelessmentor.com</a:t>
            </a:r>
            <a:endParaRPr lang="en-US" sz="800" dirty="0"/>
          </a:p>
        </p:txBody>
      </p:sp>
      <p:sp>
        <p:nvSpPr>
          <p:cNvPr id="21" name="Shape 18"/>
          <p:cNvSpPr/>
          <p:nvPr/>
        </p:nvSpPr>
        <p:spPr>
          <a:xfrm>
            <a:off x="0" y="0"/>
            <a:ext cx="64008" cy="5143500"/>
          </a:xfrm>
          <a:prstGeom prst="rect">
            <a:avLst/>
          </a:prstGeom>
          <a:solidFill>
            <a:srgbClr val="C9A96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F2"/>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4A3E"/>
          </a:solidFill>
          <a:ln/>
        </p:spPr>
      </p:sp>
      <p:sp>
        <p:nvSpPr>
          <p:cNvPr id="3" name="Text 1"/>
          <p:cNvSpPr/>
          <p:nvPr/>
        </p:nvSpPr>
        <p:spPr>
          <a:xfrm>
            <a:off x="457200" y="0"/>
            <a:ext cx="8229600" cy="640080"/>
          </a:xfrm>
          <a:prstGeom prst="rect">
            <a:avLst/>
          </a:prstGeom>
          <a:noFill/>
          <a:ln/>
        </p:spPr>
        <p:txBody>
          <a:bodyPr wrap="square" lIns="0" tIns="0" rIns="0" bIns="0" rtlCol="0" anchor="ctr"/>
          <a:lstStyle/>
          <a:p>
            <a:pPr algn="ctr" indent="0" marL="0">
              <a:buNone/>
            </a:pPr>
            <a:r>
              <a:rPr lang="en-US" sz="900" b="1" spc="400" kern="0" dirty="0">
                <a:solidFill>
                  <a:srgbClr val="C9A96E"/>
                </a:solidFill>
              </a:rPr>
              <a:t>INTRODUCTION</a:t>
            </a:r>
            <a:endParaRPr lang="en-US" sz="900" dirty="0"/>
          </a:p>
        </p:txBody>
      </p:sp>
      <p:sp>
        <p:nvSpPr>
          <p:cNvPr id="4" name="Text 2"/>
          <p:cNvSpPr/>
          <p:nvPr/>
        </p:nvSpPr>
        <p:spPr>
          <a:xfrm>
            <a:off x="457200" y="804672"/>
            <a:ext cx="8229600" cy="658368"/>
          </a:xfrm>
          <a:prstGeom prst="rect">
            <a:avLst/>
          </a:prstGeom>
          <a:noFill/>
          <a:ln/>
        </p:spPr>
        <p:txBody>
          <a:bodyPr wrap="square" lIns="0" tIns="0" rIns="0" bIns="0" rtlCol="0" anchor="ctr"/>
          <a:lstStyle/>
          <a:p>
            <a:pPr algn="l" indent="0" marL="0">
              <a:buNone/>
            </a:pPr>
            <a:r>
              <a:rPr lang="en-US" sz="2200" b="1" dirty="0">
                <a:solidFill>
                  <a:srgbClr val="2C4A3E"/>
                </a:solidFill>
              </a:rPr>
              <a:t>What Is an AI Influencer — and Why It Matters Now</a:t>
            </a:r>
            <a:endParaRPr lang="en-US" sz="2200" dirty="0"/>
          </a:p>
        </p:txBody>
      </p:sp>
      <p:sp>
        <p:nvSpPr>
          <p:cNvPr id="5" name="Text 3"/>
          <p:cNvSpPr/>
          <p:nvPr/>
        </p:nvSpPr>
        <p:spPr>
          <a:xfrm>
            <a:off x="457200" y="1536192"/>
            <a:ext cx="8229600" cy="658368"/>
          </a:xfrm>
          <a:prstGeom prst="rect">
            <a:avLst/>
          </a:prstGeom>
          <a:noFill/>
          <a:ln/>
        </p:spPr>
        <p:txBody>
          <a:bodyPr wrap="square" lIns="0" tIns="0" rIns="0" bIns="0" rtlCol="0" anchor="ctr"/>
          <a:lstStyle/>
          <a:p>
            <a:pPr algn="l" indent="0" marL="0">
              <a:buNone/>
            </a:pPr>
            <a:r>
              <a:rPr lang="en-US" sz="1050" dirty="0">
                <a:solidFill>
                  <a:srgbClr val="2C2C2C"/>
                </a:solidFill>
              </a:rPr>
              <a:t>In 2026, having an AI avatar isn't special. Everyone has one. What separates the creators building real digital businesses from those just generating pretty pictures is one thing: a living brand identity built around a Muse.</a:t>
            </a:r>
            <a:endParaRPr lang="en-US" sz="1050" dirty="0"/>
          </a:p>
        </p:txBody>
      </p:sp>
      <p:sp>
        <p:nvSpPr>
          <p:cNvPr id="6" name="Text 4"/>
          <p:cNvSpPr/>
          <p:nvPr/>
        </p:nvSpPr>
        <p:spPr>
          <a:xfrm>
            <a:off x="457200" y="2304288"/>
            <a:ext cx="8229600" cy="320040"/>
          </a:xfrm>
          <a:prstGeom prst="rect">
            <a:avLst/>
          </a:prstGeom>
          <a:noFill/>
          <a:ln/>
        </p:spPr>
        <p:txBody>
          <a:bodyPr wrap="square" lIns="0" tIns="0" rIns="0" bIns="0" rtlCol="0" anchor="ctr"/>
          <a:lstStyle/>
          <a:p>
            <a:pPr algn="l" indent="0" marL="0">
              <a:buNone/>
            </a:pPr>
            <a:r>
              <a:rPr lang="en-US" sz="1200" b="1" dirty="0">
                <a:solidFill>
                  <a:srgbClr val="2C4A3E"/>
                </a:solidFill>
              </a:rPr>
              <a:t>Why This Is a Major Opportunity Right Now</a:t>
            </a:r>
            <a:endParaRPr lang="en-US" sz="1200" dirty="0"/>
          </a:p>
        </p:txBody>
      </p:sp>
      <p:sp>
        <p:nvSpPr>
          <p:cNvPr id="7" name="Shape 5"/>
          <p:cNvSpPr/>
          <p:nvPr/>
        </p:nvSpPr>
        <p:spPr>
          <a:xfrm>
            <a:off x="457200" y="2724912"/>
            <a:ext cx="128016" cy="128016"/>
          </a:xfrm>
          <a:prstGeom prst="ellipse">
            <a:avLst/>
          </a:prstGeom>
          <a:solidFill>
            <a:srgbClr val="C9A96E"/>
          </a:solidFill>
          <a:ln/>
        </p:spPr>
      </p:sp>
      <p:sp>
        <p:nvSpPr>
          <p:cNvPr id="8" name="Text 6"/>
          <p:cNvSpPr/>
          <p:nvPr/>
        </p:nvSpPr>
        <p:spPr>
          <a:xfrm>
            <a:off x="676656" y="2679192"/>
            <a:ext cx="3703320" cy="402336"/>
          </a:xfrm>
          <a:prstGeom prst="rect">
            <a:avLst/>
          </a:prstGeom>
          <a:noFill/>
          <a:ln/>
        </p:spPr>
        <p:txBody>
          <a:bodyPr wrap="square" lIns="0" tIns="0" rIns="0" bIns="0" rtlCol="0" anchor="ctr"/>
          <a:lstStyle/>
          <a:p>
            <a:pPr indent="0" marL="0">
              <a:buNone/>
            </a:pPr>
            <a:r>
              <a:rPr lang="en-US" sz="950" dirty="0">
                <a:solidFill>
                  <a:srgbClr val="2C2C2C"/>
                </a:solidFill>
              </a:rPr>
              <a:t>Faceless content is one of the fastest-growing formats on Instagram and TikTok</a:t>
            </a:r>
            <a:endParaRPr lang="en-US" sz="950" dirty="0"/>
          </a:p>
        </p:txBody>
      </p:sp>
      <p:sp>
        <p:nvSpPr>
          <p:cNvPr id="9" name="Shape 7"/>
          <p:cNvSpPr/>
          <p:nvPr/>
        </p:nvSpPr>
        <p:spPr>
          <a:xfrm>
            <a:off x="457200" y="3200400"/>
            <a:ext cx="128016" cy="128016"/>
          </a:xfrm>
          <a:prstGeom prst="ellipse">
            <a:avLst/>
          </a:prstGeom>
          <a:solidFill>
            <a:srgbClr val="C9A96E"/>
          </a:solidFill>
          <a:ln/>
        </p:spPr>
      </p:sp>
      <p:sp>
        <p:nvSpPr>
          <p:cNvPr id="10" name="Text 8"/>
          <p:cNvSpPr/>
          <p:nvPr/>
        </p:nvSpPr>
        <p:spPr>
          <a:xfrm>
            <a:off x="676656" y="3154680"/>
            <a:ext cx="3703320" cy="402336"/>
          </a:xfrm>
          <a:prstGeom prst="rect">
            <a:avLst/>
          </a:prstGeom>
          <a:noFill/>
          <a:ln/>
        </p:spPr>
        <p:txBody>
          <a:bodyPr wrap="square" lIns="0" tIns="0" rIns="0" bIns="0" rtlCol="0" anchor="ctr"/>
          <a:lstStyle/>
          <a:p>
            <a:pPr indent="0" marL="0">
              <a:buNone/>
            </a:pPr>
            <a:r>
              <a:rPr lang="en-US" sz="950" dirty="0">
                <a:solidFill>
                  <a:srgbClr val="2C2C2C"/>
                </a:solidFill>
              </a:rPr>
              <a:t>AI-generated personas are reaching millions — with zero on-camera presence</a:t>
            </a:r>
            <a:endParaRPr lang="en-US" sz="950" dirty="0"/>
          </a:p>
        </p:txBody>
      </p:sp>
      <p:sp>
        <p:nvSpPr>
          <p:cNvPr id="11" name="Shape 9"/>
          <p:cNvSpPr/>
          <p:nvPr/>
        </p:nvSpPr>
        <p:spPr>
          <a:xfrm>
            <a:off x="457200" y="3675888"/>
            <a:ext cx="128016" cy="128016"/>
          </a:xfrm>
          <a:prstGeom prst="ellipse">
            <a:avLst/>
          </a:prstGeom>
          <a:solidFill>
            <a:srgbClr val="C9A96E"/>
          </a:solidFill>
          <a:ln/>
        </p:spPr>
      </p:sp>
      <p:sp>
        <p:nvSpPr>
          <p:cNvPr id="12" name="Text 10"/>
          <p:cNvSpPr/>
          <p:nvPr/>
        </p:nvSpPr>
        <p:spPr>
          <a:xfrm>
            <a:off x="676656" y="3630168"/>
            <a:ext cx="3703320" cy="402336"/>
          </a:xfrm>
          <a:prstGeom prst="rect">
            <a:avLst/>
          </a:prstGeom>
          <a:noFill/>
          <a:ln/>
        </p:spPr>
        <p:txBody>
          <a:bodyPr wrap="square" lIns="0" tIns="0" rIns="0" bIns="0" rtlCol="0" anchor="ctr"/>
          <a:lstStyle/>
          <a:p>
            <a:pPr indent="0" marL="0">
              <a:buNone/>
            </a:pPr>
            <a:r>
              <a:rPr lang="en-US" sz="950" dirty="0">
                <a:solidFill>
                  <a:srgbClr val="2C2C2C"/>
                </a:solidFill>
              </a:rPr>
              <a:t>Digital products, UGC, affiliate income, and brand deals all work with AI content</a:t>
            </a:r>
            <a:endParaRPr lang="en-US" sz="950" dirty="0"/>
          </a:p>
        </p:txBody>
      </p:sp>
      <p:sp>
        <p:nvSpPr>
          <p:cNvPr id="13" name="Shape 11"/>
          <p:cNvSpPr/>
          <p:nvPr/>
        </p:nvSpPr>
        <p:spPr>
          <a:xfrm>
            <a:off x="4617720" y="2724912"/>
            <a:ext cx="128016" cy="128016"/>
          </a:xfrm>
          <a:prstGeom prst="ellipse">
            <a:avLst/>
          </a:prstGeom>
          <a:solidFill>
            <a:srgbClr val="EACDC0"/>
          </a:solidFill>
          <a:ln/>
        </p:spPr>
      </p:sp>
      <p:sp>
        <p:nvSpPr>
          <p:cNvPr id="14" name="Text 12"/>
          <p:cNvSpPr/>
          <p:nvPr/>
        </p:nvSpPr>
        <p:spPr>
          <a:xfrm>
            <a:off x="4846320" y="2679192"/>
            <a:ext cx="3703320" cy="402336"/>
          </a:xfrm>
          <a:prstGeom prst="rect">
            <a:avLst/>
          </a:prstGeom>
          <a:noFill/>
          <a:ln/>
        </p:spPr>
        <p:txBody>
          <a:bodyPr wrap="square" lIns="0" tIns="0" rIns="0" bIns="0" rtlCol="0" anchor="ctr"/>
          <a:lstStyle/>
          <a:p>
            <a:pPr indent="0" marL="0">
              <a:buNone/>
            </a:pPr>
            <a:r>
              <a:rPr lang="en-US" sz="950" dirty="0">
                <a:solidFill>
                  <a:srgbClr val="2C2C2C"/>
                </a:solidFill>
              </a:rPr>
              <a:t>The creators who build systems now will own the category in 12 months</a:t>
            </a:r>
            <a:endParaRPr lang="en-US" sz="950" dirty="0"/>
          </a:p>
        </p:txBody>
      </p:sp>
      <p:sp>
        <p:nvSpPr>
          <p:cNvPr id="15" name="Shape 13"/>
          <p:cNvSpPr/>
          <p:nvPr/>
        </p:nvSpPr>
        <p:spPr>
          <a:xfrm>
            <a:off x="4617720" y="3200400"/>
            <a:ext cx="128016" cy="128016"/>
          </a:xfrm>
          <a:prstGeom prst="ellipse">
            <a:avLst/>
          </a:prstGeom>
          <a:solidFill>
            <a:srgbClr val="EACDC0"/>
          </a:solidFill>
          <a:ln/>
        </p:spPr>
      </p:sp>
      <p:sp>
        <p:nvSpPr>
          <p:cNvPr id="16" name="Text 14"/>
          <p:cNvSpPr/>
          <p:nvPr/>
        </p:nvSpPr>
        <p:spPr>
          <a:xfrm>
            <a:off x="4846320" y="3154680"/>
            <a:ext cx="3703320" cy="402336"/>
          </a:xfrm>
          <a:prstGeom prst="rect">
            <a:avLst/>
          </a:prstGeom>
          <a:noFill/>
          <a:ln/>
        </p:spPr>
        <p:txBody>
          <a:bodyPr wrap="square" lIns="0" tIns="0" rIns="0" bIns="0" rtlCol="0" anchor="ctr"/>
          <a:lstStyle/>
          <a:p>
            <a:pPr indent="0" marL="0">
              <a:buNone/>
            </a:pPr>
            <a:r>
              <a:rPr lang="en-US" sz="950" dirty="0">
                <a:solidFill>
                  <a:srgbClr val="2C2C2C"/>
                </a:solidFill>
              </a:rPr>
              <a:t>You do not need followers to start — you need a framework</a:t>
            </a:r>
            <a:endParaRPr lang="en-US" sz="950" dirty="0"/>
          </a:p>
        </p:txBody>
      </p:sp>
      <p:sp>
        <p:nvSpPr>
          <p:cNvPr id="17" name="Shape 15"/>
          <p:cNvSpPr/>
          <p:nvPr/>
        </p:nvSpPr>
        <p:spPr>
          <a:xfrm>
            <a:off x="4617720" y="3675888"/>
            <a:ext cx="128016" cy="128016"/>
          </a:xfrm>
          <a:prstGeom prst="ellipse">
            <a:avLst/>
          </a:prstGeom>
          <a:solidFill>
            <a:srgbClr val="EACDC0"/>
          </a:solidFill>
          <a:ln/>
        </p:spPr>
      </p:sp>
      <p:sp>
        <p:nvSpPr>
          <p:cNvPr id="18" name="Text 16"/>
          <p:cNvSpPr/>
          <p:nvPr/>
        </p:nvSpPr>
        <p:spPr>
          <a:xfrm>
            <a:off x="4846320" y="3630168"/>
            <a:ext cx="3703320" cy="402336"/>
          </a:xfrm>
          <a:prstGeom prst="rect">
            <a:avLst/>
          </a:prstGeom>
          <a:noFill/>
          <a:ln/>
        </p:spPr>
        <p:txBody>
          <a:bodyPr wrap="square" lIns="0" tIns="0" rIns="0" bIns="0" rtlCol="0" anchor="ctr"/>
          <a:lstStyle/>
          <a:p>
            <a:pPr indent="0" marL="0">
              <a:buNone/>
            </a:pPr>
            <a:r>
              <a:rPr lang="en-US" sz="950" dirty="0">
                <a:solidFill>
                  <a:srgbClr val="2C2C2C"/>
                </a:solidFill>
              </a:rPr>
              <a:t>This guide gives you the exact starter framework.</a:t>
            </a:r>
            <a:endParaRPr lang="en-US" sz="950" dirty="0"/>
          </a:p>
        </p:txBody>
      </p:sp>
      <p:sp>
        <p:nvSpPr>
          <p:cNvPr id="19" name="Shape 17"/>
          <p:cNvSpPr/>
          <p:nvPr/>
        </p:nvSpPr>
        <p:spPr>
          <a:xfrm>
            <a:off x="0" y="4759452"/>
            <a:ext cx="9144000" cy="384048"/>
          </a:xfrm>
          <a:prstGeom prst="rect">
            <a:avLst/>
          </a:prstGeom>
          <a:solidFill>
            <a:srgbClr val="F5EFE8"/>
          </a:solidFill>
          <a:ln/>
        </p:spPr>
      </p:sp>
      <p:sp>
        <p:nvSpPr>
          <p:cNvPr id="20" name="Text 18"/>
          <p:cNvSpPr/>
          <p:nvPr/>
        </p:nvSpPr>
        <p:spPr>
          <a:xfrm>
            <a:off x="457200" y="4759452"/>
            <a:ext cx="8229600" cy="384048"/>
          </a:xfrm>
          <a:prstGeom prst="rect">
            <a:avLst/>
          </a:prstGeom>
          <a:noFill/>
          <a:ln/>
        </p:spPr>
        <p:txBody>
          <a:bodyPr wrap="square" lIns="0" tIns="0" rIns="0" bIns="0" rtlCol="0" anchor="ctr"/>
          <a:lstStyle/>
          <a:p>
            <a:pPr algn="ctr" indent="0" marL="0">
              <a:buNone/>
            </a:pPr>
            <a:r>
              <a:rPr lang="en-US" sz="750" i="1" dirty="0">
                <a:solidFill>
                  <a:srgbClr val="9B8577"/>
                </a:solidFill>
              </a:rPr>
              <a:t>Boss Era™ × AiMUSE Alchemy™  ·  bossfacelessmentor.com</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CDC0"/>
        </a:solidFill>
      </p:bgPr>
    </p:bg>
    <p:spTree>
      <p:nvGrpSpPr>
        <p:cNvPr id="1" name=""/>
        <p:cNvGrpSpPr/>
        <p:nvPr/>
      </p:nvGrpSpPr>
      <p:grpSpPr>
        <a:xfrm>
          <a:off x="0" y="0"/>
          <a:ext cx="0" cy="0"/>
          <a:chOff x="0" y="0"/>
          <a:chExt cx="0" cy="0"/>
        </a:xfrm>
      </p:grpSpPr>
      <p:sp>
        <p:nvSpPr>
          <p:cNvPr id="2" name="Text 0"/>
          <p:cNvSpPr/>
          <p:nvPr/>
        </p:nvSpPr>
        <p:spPr>
          <a:xfrm>
            <a:off x="457200" y="548640"/>
            <a:ext cx="8229600" cy="2743200"/>
          </a:xfrm>
          <a:prstGeom prst="rect">
            <a:avLst/>
          </a:prstGeom>
          <a:noFill/>
          <a:ln/>
        </p:spPr>
        <p:txBody>
          <a:bodyPr wrap="square" lIns="0" tIns="0" rIns="0" bIns="0" rtlCol="0" anchor="ctr"/>
          <a:lstStyle/>
          <a:p>
            <a:pPr algn="ctr" indent="0" marL="0">
              <a:buNone/>
            </a:pPr>
            <a:r>
              <a:rPr lang="en-US" sz="16000" b="1" dirty="0">
                <a:solidFill>
                  <a:srgbClr val="E8C0B0"/>
                </a:solidFill>
              </a:rPr>
              <a:t>01</a:t>
            </a:r>
            <a:endParaRPr lang="en-US" sz="16000" dirty="0"/>
          </a:p>
        </p:txBody>
      </p:sp>
      <p:sp>
        <p:nvSpPr>
          <p:cNvPr id="3" name="Text 1"/>
          <p:cNvSpPr/>
          <p:nvPr/>
        </p:nvSpPr>
        <p:spPr>
          <a:xfrm>
            <a:off x="457200" y="1463040"/>
            <a:ext cx="8229600" cy="548640"/>
          </a:xfrm>
          <a:prstGeom prst="rect">
            <a:avLst/>
          </a:prstGeom>
          <a:noFill/>
          <a:ln/>
        </p:spPr>
        <p:txBody>
          <a:bodyPr wrap="square" lIns="0" tIns="0" rIns="0" bIns="0" rtlCol="0" anchor="ctr"/>
          <a:lstStyle/>
          <a:p>
            <a:pPr algn="ctr" indent="0" marL="0">
              <a:buNone/>
            </a:pPr>
            <a:r>
              <a:rPr lang="en-US" sz="1100" b="1" spc="500" kern="0" dirty="0">
                <a:solidFill>
                  <a:srgbClr val="2C4A3E"/>
                </a:solidFill>
              </a:rPr>
              <a:t>THE FRAMEWORK</a:t>
            </a:r>
            <a:endParaRPr lang="en-US" sz="1100" dirty="0"/>
          </a:p>
        </p:txBody>
      </p:sp>
      <p:sp>
        <p:nvSpPr>
          <p:cNvPr id="4" name="Text 2"/>
          <p:cNvSpPr/>
          <p:nvPr/>
        </p:nvSpPr>
        <p:spPr>
          <a:xfrm>
            <a:off x="457200" y="2011680"/>
            <a:ext cx="8229600" cy="822960"/>
          </a:xfrm>
          <a:prstGeom prst="rect">
            <a:avLst/>
          </a:prstGeom>
          <a:noFill/>
          <a:ln/>
        </p:spPr>
        <p:txBody>
          <a:bodyPr wrap="square" lIns="0" tIns="0" rIns="0" bIns="0" rtlCol="0" anchor="ctr"/>
          <a:lstStyle/>
          <a:p>
            <a:pPr algn="ctr" indent="0" marL="0">
              <a:buNone/>
            </a:pPr>
            <a:r>
              <a:rPr lang="en-US" sz="3000" b="1" dirty="0">
                <a:solidFill>
                  <a:srgbClr val="2C4A3E"/>
                </a:solidFill>
              </a:rPr>
              <a:t>The AI Influencer Starter Framework</a:t>
            </a:r>
            <a:endParaRPr lang="en-US" sz="3000" dirty="0"/>
          </a:p>
        </p:txBody>
      </p:sp>
      <p:sp>
        <p:nvSpPr>
          <p:cNvPr id="5" name="Text 3"/>
          <p:cNvSpPr/>
          <p:nvPr/>
        </p:nvSpPr>
        <p:spPr>
          <a:xfrm>
            <a:off x="457200" y="2834640"/>
            <a:ext cx="8229600" cy="457200"/>
          </a:xfrm>
          <a:prstGeom prst="rect">
            <a:avLst/>
          </a:prstGeom>
          <a:noFill/>
          <a:ln/>
        </p:spPr>
        <p:txBody>
          <a:bodyPr wrap="square" lIns="0" tIns="0" rIns="0" bIns="0" rtlCol="0" anchor="ctr"/>
          <a:lstStyle/>
          <a:p>
            <a:pPr algn="ctr" indent="0" marL="0">
              <a:buNone/>
            </a:pPr>
            <a:r>
              <a:rPr lang="en-US" sz="1300" i="1" dirty="0">
                <a:solidFill>
                  <a:srgbClr val="6B4C3B"/>
                </a:solidFill>
              </a:rPr>
              <a:t>Six steps from zero to a working AI content system</a:t>
            </a:r>
            <a:endParaRPr lang="en-US" sz="1300" dirty="0"/>
          </a:p>
        </p:txBody>
      </p:sp>
      <p:sp>
        <p:nvSpPr>
          <p:cNvPr id="6" name="Shape 4"/>
          <p:cNvSpPr/>
          <p:nvPr/>
        </p:nvSpPr>
        <p:spPr>
          <a:xfrm>
            <a:off x="3657600" y="3429000"/>
            <a:ext cx="1828800" cy="45720"/>
          </a:xfrm>
          <a:prstGeom prst="rect">
            <a:avLst/>
          </a:prstGeom>
          <a:solidFill>
            <a:srgbClr val="C9A96E"/>
          </a:solidFill>
          <a:ln/>
        </p:spPr>
      </p:sp>
      <p:pic>
        <p:nvPicPr>
          <p:cNvPr id="7" name="Image 0" descr="preencoded.png">    </p:cNvPr>
          <p:cNvPicPr>
            <a:picLocks noChangeAspect="1"/>
          </p:cNvPicPr>
          <p:nvPr/>
        </p:nvPicPr>
        <p:blipFill>
          <a:blip r:embed="rId1"/>
          <a:stretch>
            <a:fillRect/>
          </a:stretch>
        </p:blipFill>
        <p:spPr>
          <a:xfrm>
            <a:off x="7498080" y="4114800"/>
            <a:ext cx="1463040" cy="14538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F2"/>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4A3E"/>
          </a:solidFill>
          <a:ln/>
        </p:spPr>
      </p:sp>
      <p:sp>
        <p:nvSpPr>
          <p:cNvPr id="3" name="Text 1"/>
          <p:cNvSpPr/>
          <p:nvPr/>
        </p:nvSpPr>
        <p:spPr>
          <a:xfrm>
            <a:off x="457200" y="0"/>
            <a:ext cx="8229600" cy="640080"/>
          </a:xfrm>
          <a:prstGeom prst="rect">
            <a:avLst/>
          </a:prstGeom>
          <a:noFill/>
          <a:ln/>
        </p:spPr>
        <p:txBody>
          <a:bodyPr wrap="square" lIns="0" tIns="0" rIns="0" bIns="0" rtlCol="0" anchor="ctr"/>
          <a:lstStyle/>
          <a:p>
            <a:pPr algn="ctr" indent="0" marL="0">
              <a:buNone/>
            </a:pPr>
            <a:r>
              <a:rPr lang="en-US" sz="800" b="1" spc="300" kern="0" dirty="0">
                <a:solidFill>
                  <a:srgbClr val="C9A96E"/>
                </a:solidFill>
              </a:rPr>
              <a:t>THE AI INFLUENCER STARTER FRAMEWORK</a:t>
            </a:r>
            <a:endParaRPr lang="en-US" sz="800" dirty="0"/>
          </a:p>
        </p:txBody>
      </p:sp>
      <p:sp>
        <p:nvSpPr>
          <p:cNvPr id="4" name="Shape 2"/>
          <p:cNvSpPr/>
          <p:nvPr/>
        </p:nvSpPr>
        <p:spPr>
          <a:xfrm>
            <a:off x="347472" y="749808"/>
            <a:ext cx="2743200" cy="4133088"/>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5" name="Shape 3"/>
          <p:cNvSpPr/>
          <p:nvPr/>
        </p:nvSpPr>
        <p:spPr>
          <a:xfrm>
            <a:off x="347472" y="749808"/>
            <a:ext cx="2743200" cy="475488"/>
          </a:xfrm>
          <a:prstGeom prst="rect">
            <a:avLst/>
          </a:prstGeom>
          <a:solidFill>
            <a:srgbClr val="2C4A3E"/>
          </a:solidFill>
          <a:ln/>
        </p:spPr>
      </p:sp>
      <p:sp>
        <p:nvSpPr>
          <p:cNvPr id="6" name="Text 4"/>
          <p:cNvSpPr/>
          <p:nvPr/>
        </p:nvSpPr>
        <p:spPr>
          <a:xfrm>
            <a:off x="457200" y="749808"/>
            <a:ext cx="457200" cy="475488"/>
          </a:xfrm>
          <a:prstGeom prst="rect">
            <a:avLst/>
          </a:prstGeom>
          <a:noFill/>
          <a:ln/>
        </p:spPr>
        <p:txBody>
          <a:bodyPr wrap="square" lIns="0" tIns="0" rIns="0" bIns="0" rtlCol="0" anchor="ctr"/>
          <a:lstStyle/>
          <a:p>
            <a:pPr algn="l" indent="0" marL="0">
              <a:buNone/>
            </a:pPr>
            <a:r>
              <a:rPr lang="en-US" sz="1600" b="1" dirty="0">
                <a:solidFill>
                  <a:srgbClr val="C9A96E"/>
                </a:solidFill>
              </a:rPr>
              <a:t>01</a:t>
            </a:r>
            <a:endParaRPr lang="en-US" sz="1600" dirty="0"/>
          </a:p>
        </p:txBody>
      </p:sp>
      <p:sp>
        <p:nvSpPr>
          <p:cNvPr id="7" name="Text 5"/>
          <p:cNvSpPr/>
          <p:nvPr/>
        </p:nvSpPr>
        <p:spPr>
          <a:xfrm>
            <a:off x="457200" y="1335024"/>
            <a:ext cx="2523744" cy="530352"/>
          </a:xfrm>
          <a:prstGeom prst="rect">
            <a:avLst/>
          </a:prstGeom>
          <a:noFill/>
          <a:ln/>
        </p:spPr>
        <p:txBody>
          <a:bodyPr wrap="square" lIns="0" tIns="0" rIns="0" bIns="0" rtlCol="0" anchor="ctr"/>
          <a:lstStyle/>
          <a:p>
            <a:pPr algn="l" indent="0" marL="0">
              <a:buNone/>
            </a:pPr>
            <a:r>
              <a:rPr lang="en-US" sz="1100" b="1" dirty="0">
                <a:solidFill>
                  <a:srgbClr val="2C4A3E"/>
                </a:solidFill>
              </a:rPr>
              <a:t>Define Your Muse &amp; Avatar</a:t>
            </a:r>
            <a:endParaRPr lang="en-US" sz="1100" dirty="0"/>
          </a:p>
        </p:txBody>
      </p:sp>
      <p:sp>
        <p:nvSpPr>
          <p:cNvPr id="8" name="Text 6"/>
          <p:cNvSpPr/>
          <p:nvPr/>
        </p:nvSpPr>
        <p:spPr>
          <a:xfrm>
            <a:off x="457200" y="1901952"/>
            <a:ext cx="2523744" cy="777240"/>
          </a:xfrm>
          <a:prstGeom prst="rect">
            <a:avLst/>
          </a:prstGeom>
          <a:noFill/>
          <a:ln/>
        </p:spPr>
        <p:txBody>
          <a:bodyPr wrap="square" lIns="0" tIns="0" rIns="0" bIns="0" rtlCol="0" anchor="ctr"/>
          <a:lstStyle/>
          <a:p>
            <a:pPr algn="l" indent="0" marL="0">
              <a:buNone/>
            </a:pPr>
            <a:r>
              <a:rPr lang="en-US" sz="850" dirty="0">
                <a:solidFill>
                  <a:srgbClr val="5C5050"/>
                </a:solidFill>
              </a:rPr>
              <a:t>Your Muse is a character — a visual persona with a consistent aesthetic, personality, and world. She is not you. She is the version of the brand your audience falls in love with.</a:t>
            </a:r>
            <a:endParaRPr lang="en-US" sz="850" dirty="0"/>
          </a:p>
        </p:txBody>
      </p:sp>
      <p:sp>
        <p:nvSpPr>
          <p:cNvPr id="9" name="Shape 7"/>
          <p:cNvSpPr/>
          <p:nvPr/>
        </p:nvSpPr>
        <p:spPr>
          <a:xfrm>
            <a:off x="457200" y="2715768"/>
            <a:ext cx="365760" cy="36576"/>
          </a:xfrm>
          <a:prstGeom prst="rect">
            <a:avLst/>
          </a:prstGeom>
          <a:solidFill>
            <a:srgbClr val="C9A96E"/>
          </a:solidFill>
          <a:ln/>
        </p:spPr>
      </p:sp>
      <p:sp>
        <p:nvSpPr>
          <p:cNvPr id="10" name="Shape 8"/>
          <p:cNvSpPr/>
          <p:nvPr/>
        </p:nvSpPr>
        <p:spPr>
          <a:xfrm>
            <a:off x="457200" y="2852928"/>
            <a:ext cx="91440" cy="91440"/>
          </a:xfrm>
          <a:prstGeom prst="ellipse">
            <a:avLst/>
          </a:prstGeom>
          <a:solidFill>
            <a:srgbClr val="C9A96E"/>
          </a:solidFill>
          <a:ln/>
        </p:spPr>
      </p:sp>
      <p:sp>
        <p:nvSpPr>
          <p:cNvPr id="11" name="Text 9"/>
          <p:cNvSpPr/>
          <p:nvPr/>
        </p:nvSpPr>
        <p:spPr>
          <a:xfrm>
            <a:off x="603504" y="2807208"/>
            <a:ext cx="2359152" cy="384048"/>
          </a:xfrm>
          <a:prstGeom prst="rect">
            <a:avLst/>
          </a:prstGeom>
          <a:noFill/>
          <a:ln/>
        </p:spPr>
        <p:txBody>
          <a:bodyPr wrap="square" lIns="0" tIns="0" rIns="0" bIns="0" rtlCol="0" anchor="ctr"/>
          <a:lstStyle/>
          <a:p>
            <a:pPr indent="0" marL="0">
              <a:buNone/>
            </a:pPr>
            <a:r>
              <a:rPr lang="en-US" sz="780" dirty="0">
                <a:solidFill>
                  <a:srgbClr val="2C2C2C"/>
                </a:solidFill>
              </a:rPr>
              <a:t>→ Give your Muse a name, a vibe, and a visual world</a:t>
            </a:r>
            <a:endParaRPr lang="en-US" sz="780" dirty="0"/>
          </a:p>
        </p:txBody>
      </p:sp>
      <p:sp>
        <p:nvSpPr>
          <p:cNvPr id="12" name="Shape 10"/>
          <p:cNvSpPr/>
          <p:nvPr/>
        </p:nvSpPr>
        <p:spPr>
          <a:xfrm>
            <a:off x="457200" y="3255264"/>
            <a:ext cx="91440" cy="91440"/>
          </a:xfrm>
          <a:prstGeom prst="ellipse">
            <a:avLst/>
          </a:prstGeom>
          <a:solidFill>
            <a:srgbClr val="C9A96E"/>
          </a:solidFill>
          <a:ln/>
        </p:spPr>
      </p:sp>
      <p:sp>
        <p:nvSpPr>
          <p:cNvPr id="13" name="Text 11"/>
          <p:cNvSpPr/>
          <p:nvPr/>
        </p:nvSpPr>
        <p:spPr>
          <a:xfrm>
            <a:off x="603504" y="3209544"/>
            <a:ext cx="2359152" cy="384048"/>
          </a:xfrm>
          <a:prstGeom prst="rect">
            <a:avLst/>
          </a:prstGeom>
          <a:noFill/>
          <a:ln/>
        </p:spPr>
        <p:txBody>
          <a:bodyPr wrap="square" lIns="0" tIns="0" rIns="0" bIns="0" rtlCol="0" anchor="ctr"/>
          <a:lstStyle/>
          <a:p>
            <a:pPr indent="0" marL="0">
              <a:buNone/>
            </a:pPr>
            <a:r>
              <a:rPr lang="en-US" sz="780" dirty="0">
                <a:solidFill>
                  <a:srgbClr val="2C2C2C"/>
                </a:solidFill>
              </a:rPr>
              <a:t>→ Define her aesthetic: luxury, editorial, soft life, dark feminine, coastal</a:t>
            </a:r>
            <a:endParaRPr lang="en-US" sz="780" dirty="0"/>
          </a:p>
        </p:txBody>
      </p:sp>
      <p:sp>
        <p:nvSpPr>
          <p:cNvPr id="14" name="Shape 12"/>
          <p:cNvSpPr/>
          <p:nvPr/>
        </p:nvSpPr>
        <p:spPr>
          <a:xfrm>
            <a:off x="457200" y="3657600"/>
            <a:ext cx="91440" cy="91440"/>
          </a:xfrm>
          <a:prstGeom prst="ellipse">
            <a:avLst/>
          </a:prstGeom>
          <a:solidFill>
            <a:srgbClr val="C9A96E"/>
          </a:solidFill>
          <a:ln/>
        </p:spPr>
      </p:sp>
      <p:sp>
        <p:nvSpPr>
          <p:cNvPr id="15" name="Text 13"/>
          <p:cNvSpPr/>
          <p:nvPr/>
        </p:nvSpPr>
        <p:spPr>
          <a:xfrm>
            <a:off x="603504" y="3611880"/>
            <a:ext cx="2359152" cy="384048"/>
          </a:xfrm>
          <a:prstGeom prst="rect">
            <a:avLst/>
          </a:prstGeom>
          <a:noFill/>
          <a:ln/>
        </p:spPr>
        <p:txBody>
          <a:bodyPr wrap="square" lIns="0" tIns="0" rIns="0" bIns="0" rtlCol="0" anchor="ctr"/>
          <a:lstStyle/>
          <a:p>
            <a:pPr indent="0" marL="0">
              <a:buNone/>
            </a:pPr>
            <a:r>
              <a:rPr lang="en-US" sz="780" dirty="0">
                <a:solidFill>
                  <a:srgbClr val="2C2C2C"/>
                </a:solidFill>
              </a:rPr>
              <a:t>→ Choose 3 adjectives describing every image she appears in</a:t>
            </a:r>
            <a:endParaRPr lang="en-US" sz="780" dirty="0"/>
          </a:p>
        </p:txBody>
      </p:sp>
      <p:sp>
        <p:nvSpPr>
          <p:cNvPr id="16" name="Shape 14"/>
          <p:cNvSpPr/>
          <p:nvPr/>
        </p:nvSpPr>
        <p:spPr>
          <a:xfrm>
            <a:off x="457200" y="4059936"/>
            <a:ext cx="91440" cy="91440"/>
          </a:xfrm>
          <a:prstGeom prst="ellipse">
            <a:avLst/>
          </a:prstGeom>
          <a:solidFill>
            <a:srgbClr val="C9A96E"/>
          </a:solidFill>
          <a:ln/>
        </p:spPr>
      </p:sp>
      <p:sp>
        <p:nvSpPr>
          <p:cNvPr id="17" name="Text 15"/>
          <p:cNvSpPr/>
          <p:nvPr/>
        </p:nvSpPr>
        <p:spPr>
          <a:xfrm>
            <a:off x="603504" y="4014216"/>
            <a:ext cx="2359152" cy="384048"/>
          </a:xfrm>
          <a:prstGeom prst="rect">
            <a:avLst/>
          </a:prstGeom>
          <a:noFill/>
          <a:ln/>
        </p:spPr>
        <p:txBody>
          <a:bodyPr wrap="square" lIns="0" tIns="0" rIns="0" bIns="0" rtlCol="0" anchor="ctr"/>
          <a:lstStyle/>
          <a:p>
            <a:pPr indent="0" marL="0">
              <a:buNone/>
            </a:pPr>
            <a:r>
              <a:rPr lang="en-US" sz="780" dirty="0">
                <a:solidFill>
                  <a:srgbClr val="2C2C2C"/>
                </a:solidFill>
              </a:rPr>
              <a:t>→ Consistency is everything — she must look the same across every post</a:t>
            </a:r>
            <a:endParaRPr lang="en-US" sz="780" dirty="0"/>
          </a:p>
        </p:txBody>
      </p:sp>
      <p:sp>
        <p:nvSpPr>
          <p:cNvPr id="18" name="Shape 16"/>
          <p:cNvSpPr/>
          <p:nvPr/>
        </p:nvSpPr>
        <p:spPr>
          <a:xfrm>
            <a:off x="3273552" y="749808"/>
            <a:ext cx="2743200" cy="4133088"/>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19" name="Shape 17"/>
          <p:cNvSpPr/>
          <p:nvPr/>
        </p:nvSpPr>
        <p:spPr>
          <a:xfrm>
            <a:off x="3273552" y="749808"/>
            <a:ext cx="2743200" cy="475488"/>
          </a:xfrm>
          <a:prstGeom prst="rect">
            <a:avLst/>
          </a:prstGeom>
          <a:solidFill>
            <a:srgbClr val="EACDC0"/>
          </a:solidFill>
          <a:ln/>
        </p:spPr>
      </p:sp>
      <p:sp>
        <p:nvSpPr>
          <p:cNvPr id="20" name="Text 18"/>
          <p:cNvSpPr/>
          <p:nvPr/>
        </p:nvSpPr>
        <p:spPr>
          <a:xfrm>
            <a:off x="3383280" y="749808"/>
            <a:ext cx="457200" cy="475488"/>
          </a:xfrm>
          <a:prstGeom prst="rect">
            <a:avLst/>
          </a:prstGeom>
          <a:noFill/>
          <a:ln/>
        </p:spPr>
        <p:txBody>
          <a:bodyPr wrap="square" lIns="0" tIns="0" rIns="0" bIns="0" rtlCol="0" anchor="ctr"/>
          <a:lstStyle/>
          <a:p>
            <a:pPr algn="l" indent="0" marL="0">
              <a:buNone/>
            </a:pPr>
            <a:r>
              <a:rPr lang="en-US" sz="1600" b="1" dirty="0">
                <a:solidFill>
                  <a:srgbClr val="2C4A3E"/>
                </a:solidFill>
              </a:rPr>
              <a:t>02</a:t>
            </a:r>
            <a:endParaRPr lang="en-US" sz="1600" dirty="0"/>
          </a:p>
        </p:txBody>
      </p:sp>
      <p:sp>
        <p:nvSpPr>
          <p:cNvPr id="21" name="Text 19"/>
          <p:cNvSpPr/>
          <p:nvPr/>
        </p:nvSpPr>
        <p:spPr>
          <a:xfrm>
            <a:off x="3383280" y="1335024"/>
            <a:ext cx="2523744" cy="530352"/>
          </a:xfrm>
          <a:prstGeom prst="rect">
            <a:avLst/>
          </a:prstGeom>
          <a:noFill/>
          <a:ln/>
        </p:spPr>
        <p:txBody>
          <a:bodyPr wrap="square" lIns="0" tIns="0" rIns="0" bIns="0" rtlCol="0" anchor="ctr"/>
          <a:lstStyle/>
          <a:p>
            <a:pPr algn="l" indent="0" marL="0">
              <a:buNone/>
            </a:pPr>
            <a:r>
              <a:rPr lang="en-US" sz="1100" b="1" dirty="0">
                <a:solidFill>
                  <a:srgbClr val="2C4A3E"/>
                </a:solidFill>
              </a:rPr>
              <a:t>Choose a Niche &amp; Visual Identity</a:t>
            </a:r>
            <a:endParaRPr lang="en-US" sz="1100" dirty="0"/>
          </a:p>
        </p:txBody>
      </p:sp>
      <p:sp>
        <p:nvSpPr>
          <p:cNvPr id="22" name="Text 20"/>
          <p:cNvSpPr/>
          <p:nvPr/>
        </p:nvSpPr>
        <p:spPr>
          <a:xfrm>
            <a:off x="3383280" y="1901952"/>
            <a:ext cx="2523744" cy="777240"/>
          </a:xfrm>
          <a:prstGeom prst="rect">
            <a:avLst/>
          </a:prstGeom>
          <a:noFill/>
          <a:ln/>
        </p:spPr>
        <p:txBody>
          <a:bodyPr wrap="square" lIns="0" tIns="0" rIns="0" bIns="0" rtlCol="0" anchor="ctr"/>
          <a:lstStyle/>
          <a:p>
            <a:pPr algn="l" indent="0" marL="0">
              <a:buNone/>
            </a:pPr>
            <a:r>
              <a:rPr lang="en-US" sz="850" dirty="0">
                <a:solidFill>
                  <a:srgbClr val="5C5050"/>
                </a:solidFill>
              </a:rPr>
              <a:t>The riches are in the niches. A Muse that tries to be everything is remembered as nothing. Pick one lane and own it completely.</a:t>
            </a:r>
            <a:endParaRPr lang="en-US" sz="850" dirty="0"/>
          </a:p>
        </p:txBody>
      </p:sp>
      <p:sp>
        <p:nvSpPr>
          <p:cNvPr id="23" name="Shape 21"/>
          <p:cNvSpPr/>
          <p:nvPr/>
        </p:nvSpPr>
        <p:spPr>
          <a:xfrm>
            <a:off x="3383280" y="2715768"/>
            <a:ext cx="365760" cy="36576"/>
          </a:xfrm>
          <a:prstGeom prst="rect">
            <a:avLst/>
          </a:prstGeom>
          <a:solidFill>
            <a:srgbClr val="C9A96E"/>
          </a:solidFill>
          <a:ln/>
        </p:spPr>
      </p:sp>
      <p:sp>
        <p:nvSpPr>
          <p:cNvPr id="24" name="Shape 22"/>
          <p:cNvSpPr/>
          <p:nvPr/>
        </p:nvSpPr>
        <p:spPr>
          <a:xfrm>
            <a:off x="3383280" y="2852928"/>
            <a:ext cx="91440" cy="91440"/>
          </a:xfrm>
          <a:prstGeom prst="ellipse">
            <a:avLst/>
          </a:prstGeom>
          <a:solidFill>
            <a:srgbClr val="C9A96E"/>
          </a:solidFill>
          <a:ln/>
        </p:spPr>
      </p:sp>
      <p:sp>
        <p:nvSpPr>
          <p:cNvPr id="25" name="Text 23"/>
          <p:cNvSpPr/>
          <p:nvPr/>
        </p:nvSpPr>
        <p:spPr>
          <a:xfrm>
            <a:off x="3529584" y="2807208"/>
            <a:ext cx="2359152" cy="384048"/>
          </a:xfrm>
          <a:prstGeom prst="rect">
            <a:avLst/>
          </a:prstGeom>
          <a:noFill/>
          <a:ln/>
        </p:spPr>
        <p:txBody>
          <a:bodyPr wrap="square" lIns="0" tIns="0" rIns="0" bIns="0" rtlCol="0" anchor="ctr"/>
          <a:lstStyle/>
          <a:p>
            <a:pPr indent="0" marL="0">
              <a:buNone/>
            </a:pPr>
            <a:r>
              <a:rPr lang="en-US" sz="780" dirty="0">
                <a:solidFill>
                  <a:srgbClr val="2C2C2C"/>
                </a:solidFill>
              </a:rPr>
              <a:t>→ Luxury lifestyle &amp; aspirational content</a:t>
            </a:r>
            <a:endParaRPr lang="en-US" sz="780" dirty="0"/>
          </a:p>
        </p:txBody>
      </p:sp>
      <p:sp>
        <p:nvSpPr>
          <p:cNvPr id="26" name="Shape 24"/>
          <p:cNvSpPr/>
          <p:nvPr/>
        </p:nvSpPr>
        <p:spPr>
          <a:xfrm>
            <a:off x="3383280" y="3255264"/>
            <a:ext cx="91440" cy="91440"/>
          </a:xfrm>
          <a:prstGeom prst="ellipse">
            <a:avLst/>
          </a:prstGeom>
          <a:solidFill>
            <a:srgbClr val="C9A96E"/>
          </a:solidFill>
          <a:ln/>
        </p:spPr>
      </p:sp>
      <p:sp>
        <p:nvSpPr>
          <p:cNvPr id="27" name="Text 25"/>
          <p:cNvSpPr/>
          <p:nvPr/>
        </p:nvSpPr>
        <p:spPr>
          <a:xfrm>
            <a:off x="3529584" y="3209544"/>
            <a:ext cx="2359152" cy="384048"/>
          </a:xfrm>
          <a:prstGeom prst="rect">
            <a:avLst/>
          </a:prstGeom>
          <a:noFill/>
          <a:ln/>
        </p:spPr>
        <p:txBody>
          <a:bodyPr wrap="square" lIns="0" tIns="0" rIns="0" bIns="0" rtlCol="0" anchor="ctr"/>
          <a:lstStyle/>
          <a:p>
            <a:pPr indent="0" marL="0">
              <a:buNone/>
            </a:pPr>
            <a:r>
              <a:rPr lang="en-US" sz="780" dirty="0">
                <a:solidFill>
                  <a:srgbClr val="2C2C2C"/>
                </a:solidFill>
              </a:rPr>
              <a:t>→ UGC beauty, skincare, and wellness</a:t>
            </a:r>
            <a:endParaRPr lang="en-US" sz="780" dirty="0"/>
          </a:p>
        </p:txBody>
      </p:sp>
      <p:sp>
        <p:nvSpPr>
          <p:cNvPr id="28" name="Shape 26"/>
          <p:cNvSpPr/>
          <p:nvPr/>
        </p:nvSpPr>
        <p:spPr>
          <a:xfrm>
            <a:off x="3383280" y="3657600"/>
            <a:ext cx="91440" cy="91440"/>
          </a:xfrm>
          <a:prstGeom prst="ellipse">
            <a:avLst/>
          </a:prstGeom>
          <a:solidFill>
            <a:srgbClr val="C9A96E"/>
          </a:solidFill>
          <a:ln/>
        </p:spPr>
      </p:sp>
      <p:sp>
        <p:nvSpPr>
          <p:cNvPr id="29" name="Text 27"/>
          <p:cNvSpPr/>
          <p:nvPr/>
        </p:nvSpPr>
        <p:spPr>
          <a:xfrm>
            <a:off x="3529584" y="3611880"/>
            <a:ext cx="2359152" cy="384048"/>
          </a:xfrm>
          <a:prstGeom prst="rect">
            <a:avLst/>
          </a:prstGeom>
          <a:noFill/>
          <a:ln/>
        </p:spPr>
        <p:txBody>
          <a:bodyPr wrap="square" lIns="0" tIns="0" rIns="0" bIns="0" rtlCol="0" anchor="ctr"/>
          <a:lstStyle/>
          <a:p>
            <a:pPr indent="0" marL="0">
              <a:buNone/>
            </a:pPr>
            <a:r>
              <a:rPr lang="en-US" sz="780" dirty="0">
                <a:solidFill>
                  <a:srgbClr val="2C2C2C"/>
                </a:solidFill>
              </a:rPr>
              <a:t>→ AI fashion and editorial imagery</a:t>
            </a:r>
            <a:endParaRPr lang="en-US" sz="780" dirty="0"/>
          </a:p>
        </p:txBody>
      </p:sp>
      <p:sp>
        <p:nvSpPr>
          <p:cNvPr id="30" name="Shape 28"/>
          <p:cNvSpPr/>
          <p:nvPr/>
        </p:nvSpPr>
        <p:spPr>
          <a:xfrm>
            <a:off x="3383280" y="4059936"/>
            <a:ext cx="91440" cy="91440"/>
          </a:xfrm>
          <a:prstGeom prst="ellipse">
            <a:avLst/>
          </a:prstGeom>
          <a:solidFill>
            <a:srgbClr val="C9A96E"/>
          </a:solidFill>
          <a:ln/>
        </p:spPr>
      </p:sp>
      <p:sp>
        <p:nvSpPr>
          <p:cNvPr id="31" name="Text 29"/>
          <p:cNvSpPr/>
          <p:nvPr/>
        </p:nvSpPr>
        <p:spPr>
          <a:xfrm>
            <a:off x="3529584" y="4014216"/>
            <a:ext cx="2359152" cy="384048"/>
          </a:xfrm>
          <a:prstGeom prst="rect">
            <a:avLst/>
          </a:prstGeom>
          <a:noFill/>
          <a:ln/>
        </p:spPr>
        <p:txBody>
          <a:bodyPr wrap="square" lIns="0" tIns="0" rIns="0" bIns="0" rtlCol="0" anchor="ctr"/>
          <a:lstStyle/>
          <a:p>
            <a:pPr indent="0" marL="0">
              <a:buNone/>
            </a:pPr>
            <a:r>
              <a:rPr lang="en-US" sz="780" dirty="0">
                <a:solidFill>
                  <a:srgbClr val="2C2C2C"/>
                </a:solidFill>
              </a:rPr>
              <a:t>→ Business, digital income, and empowerment</a:t>
            </a:r>
            <a:endParaRPr lang="en-US" sz="780" dirty="0"/>
          </a:p>
        </p:txBody>
      </p:sp>
      <p:sp>
        <p:nvSpPr>
          <p:cNvPr id="32" name="Shape 30"/>
          <p:cNvSpPr/>
          <p:nvPr/>
        </p:nvSpPr>
        <p:spPr>
          <a:xfrm>
            <a:off x="6199632" y="749808"/>
            <a:ext cx="2743200" cy="4133088"/>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33" name="Shape 31"/>
          <p:cNvSpPr/>
          <p:nvPr/>
        </p:nvSpPr>
        <p:spPr>
          <a:xfrm>
            <a:off x="6199632" y="749808"/>
            <a:ext cx="2743200" cy="475488"/>
          </a:xfrm>
          <a:prstGeom prst="rect">
            <a:avLst/>
          </a:prstGeom>
          <a:solidFill>
            <a:srgbClr val="7AB5B0"/>
          </a:solidFill>
          <a:ln/>
        </p:spPr>
      </p:sp>
      <p:sp>
        <p:nvSpPr>
          <p:cNvPr id="34" name="Text 32"/>
          <p:cNvSpPr/>
          <p:nvPr/>
        </p:nvSpPr>
        <p:spPr>
          <a:xfrm>
            <a:off x="6309360" y="749808"/>
            <a:ext cx="457200" cy="475488"/>
          </a:xfrm>
          <a:prstGeom prst="rect">
            <a:avLst/>
          </a:prstGeom>
          <a:noFill/>
          <a:ln/>
        </p:spPr>
        <p:txBody>
          <a:bodyPr wrap="square" lIns="0" tIns="0" rIns="0" bIns="0" rtlCol="0" anchor="ctr"/>
          <a:lstStyle/>
          <a:p>
            <a:pPr algn="l" indent="0" marL="0">
              <a:buNone/>
            </a:pPr>
            <a:r>
              <a:rPr lang="en-US" sz="1600" b="1" dirty="0">
                <a:solidFill>
                  <a:srgbClr val="2C4A3E"/>
                </a:solidFill>
              </a:rPr>
              <a:t>03</a:t>
            </a:r>
            <a:endParaRPr lang="en-US" sz="1600" dirty="0"/>
          </a:p>
        </p:txBody>
      </p:sp>
      <p:sp>
        <p:nvSpPr>
          <p:cNvPr id="35" name="Text 33"/>
          <p:cNvSpPr/>
          <p:nvPr/>
        </p:nvSpPr>
        <p:spPr>
          <a:xfrm>
            <a:off x="6309360" y="1335024"/>
            <a:ext cx="2523744" cy="530352"/>
          </a:xfrm>
          <a:prstGeom prst="rect">
            <a:avLst/>
          </a:prstGeom>
          <a:noFill/>
          <a:ln/>
        </p:spPr>
        <p:txBody>
          <a:bodyPr wrap="square" lIns="0" tIns="0" rIns="0" bIns="0" rtlCol="0" anchor="ctr"/>
          <a:lstStyle/>
          <a:p>
            <a:pPr algn="l" indent="0" marL="0">
              <a:buNone/>
            </a:pPr>
            <a:r>
              <a:rPr lang="en-US" sz="1100" b="1" dirty="0">
                <a:solidFill>
                  <a:srgbClr val="2C4A3E"/>
                </a:solidFill>
              </a:rPr>
              <a:t>Create Consistent Prompts</a:t>
            </a:r>
            <a:endParaRPr lang="en-US" sz="1100" dirty="0"/>
          </a:p>
        </p:txBody>
      </p:sp>
      <p:sp>
        <p:nvSpPr>
          <p:cNvPr id="36" name="Text 34"/>
          <p:cNvSpPr/>
          <p:nvPr/>
        </p:nvSpPr>
        <p:spPr>
          <a:xfrm>
            <a:off x="6309360" y="1901952"/>
            <a:ext cx="2523744" cy="777240"/>
          </a:xfrm>
          <a:prstGeom prst="rect">
            <a:avLst/>
          </a:prstGeom>
          <a:noFill/>
          <a:ln/>
        </p:spPr>
        <p:txBody>
          <a:bodyPr wrap="square" lIns="0" tIns="0" rIns="0" bIns="0" rtlCol="0" anchor="ctr"/>
          <a:lstStyle/>
          <a:p>
            <a:pPr algn="l" indent="0" marL="0">
              <a:buNone/>
            </a:pPr>
            <a:r>
              <a:rPr lang="en-US" sz="850" dirty="0">
                <a:solidFill>
                  <a:srgbClr val="5C5050"/>
                </a:solidFill>
              </a:rPr>
              <a:t>Your prompt is your paintbrush. The more specific and consistent your prompting language, the more recognizable your Muse becomes.</a:t>
            </a:r>
            <a:endParaRPr lang="en-US" sz="850" dirty="0"/>
          </a:p>
        </p:txBody>
      </p:sp>
      <p:sp>
        <p:nvSpPr>
          <p:cNvPr id="37" name="Shape 35"/>
          <p:cNvSpPr/>
          <p:nvPr/>
        </p:nvSpPr>
        <p:spPr>
          <a:xfrm>
            <a:off x="6309360" y="2715768"/>
            <a:ext cx="365760" cy="36576"/>
          </a:xfrm>
          <a:prstGeom prst="rect">
            <a:avLst/>
          </a:prstGeom>
          <a:solidFill>
            <a:srgbClr val="C9A96E"/>
          </a:solidFill>
          <a:ln/>
        </p:spPr>
      </p:sp>
      <p:sp>
        <p:nvSpPr>
          <p:cNvPr id="38" name="Shape 36"/>
          <p:cNvSpPr/>
          <p:nvPr/>
        </p:nvSpPr>
        <p:spPr>
          <a:xfrm>
            <a:off x="6309360" y="2852928"/>
            <a:ext cx="91440" cy="91440"/>
          </a:xfrm>
          <a:prstGeom prst="ellipse">
            <a:avLst/>
          </a:prstGeom>
          <a:solidFill>
            <a:srgbClr val="C9A96E"/>
          </a:solidFill>
          <a:ln/>
        </p:spPr>
      </p:sp>
      <p:sp>
        <p:nvSpPr>
          <p:cNvPr id="39" name="Text 37"/>
          <p:cNvSpPr/>
          <p:nvPr/>
        </p:nvSpPr>
        <p:spPr>
          <a:xfrm>
            <a:off x="6455664" y="2807208"/>
            <a:ext cx="2359152" cy="384048"/>
          </a:xfrm>
          <a:prstGeom prst="rect">
            <a:avLst/>
          </a:prstGeom>
          <a:noFill/>
          <a:ln/>
        </p:spPr>
        <p:txBody>
          <a:bodyPr wrap="square" lIns="0" tIns="0" rIns="0" bIns="0" rtlCol="0" anchor="ctr"/>
          <a:lstStyle/>
          <a:p>
            <a:pPr indent="0" marL="0">
              <a:buNone/>
            </a:pPr>
            <a:r>
              <a:rPr lang="en-US" sz="780" dirty="0">
                <a:solidFill>
                  <a:srgbClr val="2C2C2C"/>
                </a:solidFill>
              </a:rPr>
              <a:t>→ Always include: lighting, setting, mood, outfit, camera angle</a:t>
            </a:r>
            <a:endParaRPr lang="en-US" sz="780" dirty="0"/>
          </a:p>
        </p:txBody>
      </p:sp>
      <p:sp>
        <p:nvSpPr>
          <p:cNvPr id="40" name="Shape 38"/>
          <p:cNvSpPr/>
          <p:nvPr/>
        </p:nvSpPr>
        <p:spPr>
          <a:xfrm>
            <a:off x="6309360" y="3255264"/>
            <a:ext cx="91440" cy="91440"/>
          </a:xfrm>
          <a:prstGeom prst="ellipse">
            <a:avLst/>
          </a:prstGeom>
          <a:solidFill>
            <a:srgbClr val="C9A96E"/>
          </a:solidFill>
          <a:ln/>
        </p:spPr>
      </p:sp>
      <p:sp>
        <p:nvSpPr>
          <p:cNvPr id="41" name="Text 39"/>
          <p:cNvSpPr/>
          <p:nvPr/>
        </p:nvSpPr>
        <p:spPr>
          <a:xfrm>
            <a:off x="6455664" y="3209544"/>
            <a:ext cx="2359152" cy="384048"/>
          </a:xfrm>
          <a:prstGeom prst="rect">
            <a:avLst/>
          </a:prstGeom>
          <a:noFill/>
          <a:ln/>
        </p:spPr>
        <p:txBody>
          <a:bodyPr wrap="square" lIns="0" tIns="0" rIns="0" bIns="0" rtlCol="0" anchor="ctr"/>
          <a:lstStyle/>
          <a:p>
            <a:pPr indent="0" marL="0">
              <a:buNone/>
            </a:pPr>
            <a:r>
              <a:rPr lang="en-US" sz="780" dirty="0">
                <a:solidFill>
                  <a:srgbClr val="2C2C2C"/>
                </a:solidFill>
              </a:rPr>
              <a:t>→ Build a 'Muse Prompt Signature' — a reusable block for every image</a:t>
            </a:r>
            <a:endParaRPr lang="en-US" sz="780" dirty="0"/>
          </a:p>
        </p:txBody>
      </p:sp>
      <p:sp>
        <p:nvSpPr>
          <p:cNvPr id="42" name="Shape 40"/>
          <p:cNvSpPr/>
          <p:nvPr/>
        </p:nvSpPr>
        <p:spPr>
          <a:xfrm>
            <a:off x="6309360" y="3657600"/>
            <a:ext cx="91440" cy="91440"/>
          </a:xfrm>
          <a:prstGeom prst="ellipse">
            <a:avLst/>
          </a:prstGeom>
          <a:solidFill>
            <a:srgbClr val="C9A96E"/>
          </a:solidFill>
          <a:ln/>
        </p:spPr>
      </p:sp>
      <p:sp>
        <p:nvSpPr>
          <p:cNvPr id="43" name="Text 41"/>
          <p:cNvSpPr/>
          <p:nvPr/>
        </p:nvSpPr>
        <p:spPr>
          <a:xfrm>
            <a:off x="6455664" y="3611880"/>
            <a:ext cx="2359152" cy="384048"/>
          </a:xfrm>
          <a:prstGeom prst="rect">
            <a:avLst/>
          </a:prstGeom>
          <a:noFill/>
          <a:ln/>
        </p:spPr>
        <p:txBody>
          <a:bodyPr wrap="square" lIns="0" tIns="0" rIns="0" bIns="0" rtlCol="0" anchor="ctr"/>
          <a:lstStyle/>
          <a:p>
            <a:pPr indent="0" marL="0">
              <a:buNone/>
            </a:pPr>
            <a:r>
              <a:rPr lang="en-US" sz="780" dirty="0">
                <a:solidFill>
                  <a:srgbClr val="2C2C2C"/>
                </a:solidFill>
              </a:rPr>
              <a:t>→ Test variations until you find her — then lock it in</a:t>
            </a:r>
            <a:endParaRPr lang="en-US" sz="780" dirty="0"/>
          </a:p>
        </p:txBody>
      </p:sp>
      <p:sp>
        <p:nvSpPr>
          <p:cNvPr id="44" name="Shape 42"/>
          <p:cNvSpPr/>
          <p:nvPr/>
        </p:nvSpPr>
        <p:spPr>
          <a:xfrm>
            <a:off x="6309360" y="4059936"/>
            <a:ext cx="91440" cy="91440"/>
          </a:xfrm>
          <a:prstGeom prst="ellipse">
            <a:avLst/>
          </a:prstGeom>
          <a:solidFill>
            <a:srgbClr val="C9A96E"/>
          </a:solidFill>
          <a:ln/>
        </p:spPr>
      </p:sp>
      <p:sp>
        <p:nvSpPr>
          <p:cNvPr id="45" name="Text 43"/>
          <p:cNvSpPr/>
          <p:nvPr/>
        </p:nvSpPr>
        <p:spPr>
          <a:xfrm>
            <a:off x="6455664" y="4014216"/>
            <a:ext cx="2359152" cy="384048"/>
          </a:xfrm>
          <a:prstGeom prst="rect">
            <a:avLst/>
          </a:prstGeom>
          <a:noFill/>
          <a:ln/>
        </p:spPr>
        <p:txBody>
          <a:bodyPr wrap="square" lIns="0" tIns="0" rIns="0" bIns="0" rtlCol="0" anchor="ctr"/>
          <a:lstStyle/>
          <a:p>
            <a:pPr indent="0" marL="0">
              <a:buNone/>
            </a:pPr>
            <a:r>
              <a:rPr lang="en-US" sz="780" dirty="0">
                <a:solidFill>
                  <a:srgbClr val="2C2C2C"/>
                </a:solidFill>
              </a:rPr>
              <a:t>→ Use negative prompts to remove what you don't want</a:t>
            </a:r>
            <a:endParaRPr lang="en-US" sz="780" dirty="0"/>
          </a:p>
        </p:txBody>
      </p:sp>
      <p:sp>
        <p:nvSpPr>
          <p:cNvPr id="46" name="Shape 44"/>
          <p:cNvSpPr/>
          <p:nvPr/>
        </p:nvSpPr>
        <p:spPr>
          <a:xfrm>
            <a:off x="0" y="4759452"/>
            <a:ext cx="9144000" cy="384048"/>
          </a:xfrm>
          <a:prstGeom prst="rect">
            <a:avLst/>
          </a:prstGeom>
          <a:solidFill>
            <a:srgbClr val="F5EFE8"/>
          </a:solidFill>
          <a:ln/>
        </p:spPr>
      </p:sp>
      <p:sp>
        <p:nvSpPr>
          <p:cNvPr id="47" name="Text 45"/>
          <p:cNvSpPr/>
          <p:nvPr/>
        </p:nvSpPr>
        <p:spPr>
          <a:xfrm>
            <a:off x="457200" y="4759452"/>
            <a:ext cx="8229600" cy="384048"/>
          </a:xfrm>
          <a:prstGeom prst="rect">
            <a:avLst/>
          </a:prstGeom>
          <a:noFill/>
          <a:ln/>
        </p:spPr>
        <p:txBody>
          <a:bodyPr wrap="square" lIns="0" tIns="0" rIns="0" bIns="0" rtlCol="0" anchor="ctr"/>
          <a:lstStyle/>
          <a:p>
            <a:pPr algn="ctr" indent="0" marL="0">
              <a:buNone/>
            </a:pPr>
            <a:r>
              <a:rPr lang="en-US" sz="750" i="1" dirty="0">
                <a:solidFill>
                  <a:srgbClr val="9B8577"/>
                </a:solidFill>
              </a:rPr>
              <a:t>Boss Era™ × AiMUSE Alchemy™  ·  bossfacelessmentor.com</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F2"/>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4A3E"/>
          </a:solidFill>
          <a:ln/>
        </p:spPr>
      </p:sp>
      <p:sp>
        <p:nvSpPr>
          <p:cNvPr id="3" name="Text 1"/>
          <p:cNvSpPr/>
          <p:nvPr/>
        </p:nvSpPr>
        <p:spPr>
          <a:xfrm>
            <a:off x="457200" y="0"/>
            <a:ext cx="8229600" cy="640080"/>
          </a:xfrm>
          <a:prstGeom prst="rect">
            <a:avLst/>
          </a:prstGeom>
          <a:noFill/>
          <a:ln/>
        </p:spPr>
        <p:txBody>
          <a:bodyPr wrap="square" lIns="0" tIns="0" rIns="0" bIns="0" rtlCol="0" anchor="ctr"/>
          <a:lstStyle/>
          <a:p>
            <a:pPr algn="ctr" indent="0" marL="0">
              <a:buNone/>
            </a:pPr>
            <a:r>
              <a:rPr lang="en-US" sz="800" b="1" spc="300" kern="0" dirty="0">
                <a:solidFill>
                  <a:srgbClr val="C9A96E"/>
                </a:solidFill>
              </a:rPr>
              <a:t>THE AI INFLUENCER STARTER FRAMEWORK</a:t>
            </a:r>
            <a:endParaRPr lang="en-US" sz="800" dirty="0"/>
          </a:p>
        </p:txBody>
      </p:sp>
      <p:sp>
        <p:nvSpPr>
          <p:cNvPr id="4" name="Shape 2"/>
          <p:cNvSpPr/>
          <p:nvPr/>
        </p:nvSpPr>
        <p:spPr>
          <a:xfrm>
            <a:off x="347472" y="749808"/>
            <a:ext cx="2743200" cy="4133088"/>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5" name="Shape 3"/>
          <p:cNvSpPr/>
          <p:nvPr/>
        </p:nvSpPr>
        <p:spPr>
          <a:xfrm>
            <a:off x="347472" y="749808"/>
            <a:ext cx="2743200" cy="475488"/>
          </a:xfrm>
          <a:prstGeom prst="rect">
            <a:avLst/>
          </a:prstGeom>
          <a:solidFill>
            <a:srgbClr val="EACDC0"/>
          </a:solidFill>
          <a:ln/>
        </p:spPr>
      </p:sp>
      <p:sp>
        <p:nvSpPr>
          <p:cNvPr id="6" name="Text 4"/>
          <p:cNvSpPr/>
          <p:nvPr/>
        </p:nvSpPr>
        <p:spPr>
          <a:xfrm>
            <a:off x="457200" y="749808"/>
            <a:ext cx="457200" cy="475488"/>
          </a:xfrm>
          <a:prstGeom prst="rect">
            <a:avLst/>
          </a:prstGeom>
          <a:noFill/>
          <a:ln/>
        </p:spPr>
        <p:txBody>
          <a:bodyPr wrap="square" lIns="0" tIns="0" rIns="0" bIns="0" rtlCol="0" anchor="ctr"/>
          <a:lstStyle/>
          <a:p>
            <a:pPr algn="l" indent="0" marL="0">
              <a:buNone/>
            </a:pPr>
            <a:r>
              <a:rPr lang="en-US" sz="1600" b="1" dirty="0">
                <a:solidFill>
                  <a:srgbClr val="2C4A3E"/>
                </a:solidFill>
              </a:rPr>
              <a:t>04</a:t>
            </a:r>
            <a:endParaRPr lang="en-US" sz="1600" dirty="0"/>
          </a:p>
        </p:txBody>
      </p:sp>
      <p:sp>
        <p:nvSpPr>
          <p:cNvPr id="7" name="Text 5"/>
          <p:cNvSpPr/>
          <p:nvPr/>
        </p:nvSpPr>
        <p:spPr>
          <a:xfrm>
            <a:off x="457200" y="1335024"/>
            <a:ext cx="2523744" cy="530352"/>
          </a:xfrm>
          <a:prstGeom prst="rect">
            <a:avLst/>
          </a:prstGeom>
          <a:noFill/>
          <a:ln/>
        </p:spPr>
        <p:txBody>
          <a:bodyPr wrap="square" lIns="0" tIns="0" rIns="0" bIns="0" rtlCol="0" anchor="ctr"/>
          <a:lstStyle/>
          <a:p>
            <a:pPr algn="l" indent="0" marL="0">
              <a:buNone/>
            </a:pPr>
            <a:r>
              <a:rPr lang="en-US" sz="1100" b="1" dirty="0">
                <a:solidFill>
                  <a:srgbClr val="2C4A3E"/>
                </a:solidFill>
              </a:rPr>
              <a:t>Generate Consistent Luxury Content</a:t>
            </a:r>
            <a:endParaRPr lang="en-US" sz="1100" dirty="0"/>
          </a:p>
        </p:txBody>
      </p:sp>
      <p:sp>
        <p:nvSpPr>
          <p:cNvPr id="8" name="Text 6"/>
          <p:cNvSpPr/>
          <p:nvPr/>
        </p:nvSpPr>
        <p:spPr>
          <a:xfrm>
            <a:off x="457200" y="1901952"/>
            <a:ext cx="2523744" cy="777240"/>
          </a:xfrm>
          <a:prstGeom prst="rect">
            <a:avLst/>
          </a:prstGeom>
          <a:noFill/>
          <a:ln/>
        </p:spPr>
        <p:txBody>
          <a:bodyPr wrap="square" lIns="0" tIns="0" rIns="0" bIns="0" rtlCol="0" anchor="ctr"/>
          <a:lstStyle/>
          <a:p>
            <a:pPr algn="l" indent="0" marL="0">
              <a:buNone/>
            </a:pPr>
            <a:r>
              <a:rPr lang="en-US" sz="850" dirty="0">
                <a:solidFill>
                  <a:srgbClr val="5C5050"/>
                </a:solidFill>
              </a:rPr>
              <a:t>Once your Muse is defined, content becomes a system — not a creative challenge.</a:t>
            </a:r>
            <a:endParaRPr lang="en-US" sz="850" dirty="0"/>
          </a:p>
        </p:txBody>
      </p:sp>
      <p:sp>
        <p:nvSpPr>
          <p:cNvPr id="9" name="Shape 7"/>
          <p:cNvSpPr/>
          <p:nvPr/>
        </p:nvSpPr>
        <p:spPr>
          <a:xfrm>
            <a:off x="457200" y="2715768"/>
            <a:ext cx="365760" cy="36576"/>
          </a:xfrm>
          <a:prstGeom prst="rect">
            <a:avLst/>
          </a:prstGeom>
          <a:solidFill>
            <a:srgbClr val="C9A96E"/>
          </a:solidFill>
          <a:ln/>
        </p:spPr>
      </p:sp>
      <p:sp>
        <p:nvSpPr>
          <p:cNvPr id="10" name="Shape 8"/>
          <p:cNvSpPr/>
          <p:nvPr/>
        </p:nvSpPr>
        <p:spPr>
          <a:xfrm>
            <a:off x="457200" y="2852928"/>
            <a:ext cx="91440" cy="91440"/>
          </a:xfrm>
          <a:prstGeom prst="ellipse">
            <a:avLst/>
          </a:prstGeom>
          <a:solidFill>
            <a:srgbClr val="C9A96E"/>
          </a:solidFill>
          <a:ln/>
        </p:spPr>
      </p:sp>
      <p:sp>
        <p:nvSpPr>
          <p:cNvPr id="11" name="Text 9"/>
          <p:cNvSpPr/>
          <p:nvPr/>
        </p:nvSpPr>
        <p:spPr>
          <a:xfrm>
            <a:off x="603504" y="2807208"/>
            <a:ext cx="2359152" cy="384048"/>
          </a:xfrm>
          <a:prstGeom prst="rect">
            <a:avLst/>
          </a:prstGeom>
          <a:noFill/>
          <a:ln/>
        </p:spPr>
        <p:txBody>
          <a:bodyPr wrap="square" lIns="0" tIns="0" rIns="0" bIns="0" rtlCol="0" anchor="ctr"/>
          <a:lstStyle/>
          <a:p>
            <a:pPr indent="0" marL="0">
              <a:buNone/>
            </a:pPr>
            <a:r>
              <a:rPr lang="en-US" sz="780" dirty="0">
                <a:solidFill>
                  <a:srgbClr val="2C2C2C"/>
                </a:solidFill>
              </a:rPr>
              <a:t>→ Batch generate 30 images in one session</a:t>
            </a:r>
            <a:endParaRPr lang="en-US" sz="780" dirty="0"/>
          </a:p>
        </p:txBody>
      </p:sp>
      <p:sp>
        <p:nvSpPr>
          <p:cNvPr id="12" name="Shape 10"/>
          <p:cNvSpPr/>
          <p:nvPr/>
        </p:nvSpPr>
        <p:spPr>
          <a:xfrm>
            <a:off x="457200" y="3255264"/>
            <a:ext cx="91440" cy="91440"/>
          </a:xfrm>
          <a:prstGeom prst="ellipse">
            <a:avLst/>
          </a:prstGeom>
          <a:solidFill>
            <a:srgbClr val="C9A96E"/>
          </a:solidFill>
          <a:ln/>
        </p:spPr>
      </p:sp>
      <p:sp>
        <p:nvSpPr>
          <p:cNvPr id="13" name="Text 11"/>
          <p:cNvSpPr/>
          <p:nvPr/>
        </p:nvSpPr>
        <p:spPr>
          <a:xfrm>
            <a:off x="603504" y="3209544"/>
            <a:ext cx="2359152" cy="384048"/>
          </a:xfrm>
          <a:prstGeom prst="rect">
            <a:avLst/>
          </a:prstGeom>
          <a:noFill/>
          <a:ln/>
        </p:spPr>
        <p:txBody>
          <a:bodyPr wrap="square" lIns="0" tIns="0" rIns="0" bIns="0" rtlCol="0" anchor="ctr"/>
          <a:lstStyle/>
          <a:p>
            <a:pPr indent="0" marL="0">
              <a:buNone/>
            </a:pPr>
            <a:r>
              <a:rPr lang="en-US" sz="780" dirty="0">
                <a:solidFill>
                  <a:srgbClr val="2C2C2C"/>
                </a:solidFill>
              </a:rPr>
              <a:t>→ Create carousel posts, Reel covers, Story content &amp; product mockups</a:t>
            </a:r>
            <a:endParaRPr lang="en-US" sz="780" dirty="0"/>
          </a:p>
        </p:txBody>
      </p:sp>
      <p:sp>
        <p:nvSpPr>
          <p:cNvPr id="14" name="Shape 12"/>
          <p:cNvSpPr/>
          <p:nvPr/>
        </p:nvSpPr>
        <p:spPr>
          <a:xfrm>
            <a:off x="457200" y="3657600"/>
            <a:ext cx="91440" cy="91440"/>
          </a:xfrm>
          <a:prstGeom prst="ellipse">
            <a:avLst/>
          </a:prstGeom>
          <a:solidFill>
            <a:srgbClr val="C9A96E"/>
          </a:solidFill>
          <a:ln/>
        </p:spPr>
      </p:sp>
      <p:sp>
        <p:nvSpPr>
          <p:cNvPr id="15" name="Text 13"/>
          <p:cNvSpPr/>
          <p:nvPr/>
        </p:nvSpPr>
        <p:spPr>
          <a:xfrm>
            <a:off x="603504" y="3611880"/>
            <a:ext cx="2359152" cy="384048"/>
          </a:xfrm>
          <a:prstGeom prst="rect">
            <a:avLst/>
          </a:prstGeom>
          <a:noFill/>
          <a:ln/>
        </p:spPr>
        <p:txBody>
          <a:bodyPr wrap="square" lIns="0" tIns="0" rIns="0" bIns="0" rtlCol="0" anchor="ctr"/>
          <a:lstStyle/>
          <a:p>
            <a:pPr indent="0" marL="0">
              <a:buNone/>
            </a:pPr>
            <a:r>
              <a:rPr lang="en-US" sz="780" dirty="0">
                <a:solidFill>
                  <a:srgbClr val="2C2C2C"/>
                </a:solidFill>
              </a:rPr>
              <a:t>→ Use AI video tools to bring static Muses to life</a:t>
            </a:r>
            <a:endParaRPr lang="en-US" sz="780" dirty="0"/>
          </a:p>
        </p:txBody>
      </p:sp>
      <p:sp>
        <p:nvSpPr>
          <p:cNvPr id="16" name="Shape 14"/>
          <p:cNvSpPr/>
          <p:nvPr/>
        </p:nvSpPr>
        <p:spPr>
          <a:xfrm>
            <a:off x="457200" y="4059936"/>
            <a:ext cx="91440" cy="91440"/>
          </a:xfrm>
          <a:prstGeom prst="ellipse">
            <a:avLst/>
          </a:prstGeom>
          <a:solidFill>
            <a:srgbClr val="C9A96E"/>
          </a:solidFill>
          <a:ln/>
        </p:spPr>
      </p:sp>
      <p:sp>
        <p:nvSpPr>
          <p:cNvPr id="17" name="Text 15"/>
          <p:cNvSpPr/>
          <p:nvPr/>
        </p:nvSpPr>
        <p:spPr>
          <a:xfrm>
            <a:off x="603504" y="4014216"/>
            <a:ext cx="2359152" cy="384048"/>
          </a:xfrm>
          <a:prstGeom prst="rect">
            <a:avLst/>
          </a:prstGeom>
          <a:noFill/>
          <a:ln/>
        </p:spPr>
        <p:txBody>
          <a:bodyPr wrap="square" lIns="0" tIns="0" rIns="0" bIns="0" rtlCol="0" anchor="ctr"/>
          <a:lstStyle/>
          <a:p>
            <a:pPr indent="0" marL="0">
              <a:buNone/>
            </a:pPr>
            <a:r>
              <a:rPr lang="en-US" sz="780" dirty="0">
                <a:solidFill>
                  <a:srgbClr val="2C2C2C"/>
                </a:solidFill>
              </a:rPr>
              <a:t>→ Keep a brand board of approved images as your visual reference</a:t>
            </a:r>
            <a:endParaRPr lang="en-US" sz="780" dirty="0"/>
          </a:p>
        </p:txBody>
      </p:sp>
      <p:sp>
        <p:nvSpPr>
          <p:cNvPr id="18" name="Shape 16"/>
          <p:cNvSpPr/>
          <p:nvPr/>
        </p:nvSpPr>
        <p:spPr>
          <a:xfrm>
            <a:off x="3273552" y="749808"/>
            <a:ext cx="2743200" cy="4133088"/>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19" name="Shape 17"/>
          <p:cNvSpPr/>
          <p:nvPr/>
        </p:nvSpPr>
        <p:spPr>
          <a:xfrm>
            <a:off x="3273552" y="749808"/>
            <a:ext cx="2743200" cy="475488"/>
          </a:xfrm>
          <a:prstGeom prst="rect">
            <a:avLst/>
          </a:prstGeom>
          <a:solidFill>
            <a:srgbClr val="C9A96E"/>
          </a:solidFill>
          <a:ln/>
        </p:spPr>
      </p:sp>
      <p:sp>
        <p:nvSpPr>
          <p:cNvPr id="20" name="Text 18"/>
          <p:cNvSpPr/>
          <p:nvPr/>
        </p:nvSpPr>
        <p:spPr>
          <a:xfrm>
            <a:off x="3383280" y="749808"/>
            <a:ext cx="457200" cy="475488"/>
          </a:xfrm>
          <a:prstGeom prst="rect">
            <a:avLst/>
          </a:prstGeom>
          <a:noFill/>
          <a:ln/>
        </p:spPr>
        <p:txBody>
          <a:bodyPr wrap="square" lIns="0" tIns="0" rIns="0" bIns="0" rtlCol="0" anchor="ctr"/>
          <a:lstStyle/>
          <a:p>
            <a:pPr algn="l" indent="0" marL="0">
              <a:buNone/>
            </a:pPr>
            <a:r>
              <a:rPr lang="en-US" sz="1600" b="1" dirty="0">
                <a:solidFill>
                  <a:srgbClr val="2C4A3E"/>
                </a:solidFill>
              </a:rPr>
              <a:t>05</a:t>
            </a:r>
            <a:endParaRPr lang="en-US" sz="1600" dirty="0"/>
          </a:p>
        </p:txBody>
      </p:sp>
      <p:sp>
        <p:nvSpPr>
          <p:cNvPr id="21" name="Text 19"/>
          <p:cNvSpPr/>
          <p:nvPr/>
        </p:nvSpPr>
        <p:spPr>
          <a:xfrm>
            <a:off x="3383280" y="1335024"/>
            <a:ext cx="2523744" cy="530352"/>
          </a:xfrm>
          <a:prstGeom prst="rect">
            <a:avLst/>
          </a:prstGeom>
          <a:noFill/>
          <a:ln/>
        </p:spPr>
        <p:txBody>
          <a:bodyPr wrap="square" lIns="0" tIns="0" rIns="0" bIns="0" rtlCol="0" anchor="ctr"/>
          <a:lstStyle/>
          <a:p>
            <a:pPr algn="l" indent="0" marL="0">
              <a:buNone/>
            </a:pPr>
            <a:r>
              <a:rPr lang="en-US" sz="1100" b="1" dirty="0">
                <a:solidFill>
                  <a:srgbClr val="2C4A3E"/>
                </a:solidFill>
              </a:rPr>
              <a:t>Build a Posting &amp; Content System</a:t>
            </a:r>
            <a:endParaRPr lang="en-US" sz="1100" dirty="0"/>
          </a:p>
        </p:txBody>
      </p:sp>
      <p:sp>
        <p:nvSpPr>
          <p:cNvPr id="22" name="Text 20"/>
          <p:cNvSpPr/>
          <p:nvPr/>
        </p:nvSpPr>
        <p:spPr>
          <a:xfrm>
            <a:off x="3383280" y="1901952"/>
            <a:ext cx="2523744" cy="777240"/>
          </a:xfrm>
          <a:prstGeom prst="rect">
            <a:avLst/>
          </a:prstGeom>
          <a:noFill/>
          <a:ln/>
        </p:spPr>
        <p:txBody>
          <a:bodyPr wrap="square" lIns="0" tIns="0" rIns="0" bIns="0" rtlCol="0" anchor="ctr"/>
          <a:lstStyle/>
          <a:p>
            <a:pPr algn="l" indent="0" marL="0">
              <a:buNone/>
            </a:pPr>
            <a:r>
              <a:rPr lang="en-US" sz="850" dirty="0">
                <a:solidFill>
                  <a:srgbClr val="5C5050"/>
                </a:solidFill>
              </a:rPr>
              <a:t>Consistency beats quality. A Muse that posts every day with good content will outperform one that posts perfectly once a week.</a:t>
            </a:r>
            <a:endParaRPr lang="en-US" sz="850" dirty="0"/>
          </a:p>
        </p:txBody>
      </p:sp>
      <p:sp>
        <p:nvSpPr>
          <p:cNvPr id="23" name="Shape 21"/>
          <p:cNvSpPr/>
          <p:nvPr/>
        </p:nvSpPr>
        <p:spPr>
          <a:xfrm>
            <a:off x="3383280" y="2715768"/>
            <a:ext cx="365760" cy="36576"/>
          </a:xfrm>
          <a:prstGeom prst="rect">
            <a:avLst/>
          </a:prstGeom>
          <a:solidFill>
            <a:srgbClr val="C9A96E"/>
          </a:solidFill>
          <a:ln/>
        </p:spPr>
      </p:sp>
      <p:sp>
        <p:nvSpPr>
          <p:cNvPr id="24" name="Shape 22"/>
          <p:cNvSpPr/>
          <p:nvPr/>
        </p:nvSpPr>
        <p:spPr>
          <a:xfrm>
            <a:off x="3383280" y="2852928"/>
            <a:ext cx="91440" cy="91440"/>
          </a:xfrm>
          <a:prstGeom prst="ellipse">
            <a:avLst/>
          </a:prstGeom>
          <a:solidFill>
            <a:srgbClr val="EACDC0"/>
          </a:solidFill>
          <a:ln/>
        </p:spPr>
      </p:sp>
      <p:sp>
        <p:nvSpPr>
          <p:cNvPr id="25" name="Text 23"/>
          <p:cNvSpPr/>
          <p:nvPr/>
        </p:nvSpPr>
        <p:spPr>
          <a:xfrm>
            <a:off x="3529584" y="2807208"/>
            <a:ext cx="2359152" cy="384048"/>
          </a:xfrm>
          <a:prstGeom prst="rect">
            <a:avLst/>
          </a:prstGeom>
          <a:noFill/>
          <a:ln/>
        </p:spPr>
        <p:txBody>
          <a:bodyPr wrap="square" lIns="0" tIns="0" rIns="0" bIns="0" rtlCol="0" anchor="ctr"/>
          <a:lstStyle/>
          <a:p>
            <a:pPr indent="0" marL="0">
              <a:buNone/>
            </a:pPr>
            <a:r>
              <a:rPr lang="en-US" sz="780" dirty="0">
                <a:solidFill>
                  <a:srgbClr val="2C2C2C"/>
                </a:solidFill>
              </a:rPr>
              <a:t>→ Post 5–7x per week minimum</a:t>
            </a:r>
            <a:endParaRPr lang="en-US" sz="780" dirty="0"/>
          </a:p>
        </p:txBody>
      </p:sp>
      <p:sp>
        <p:nvSpPr>
          <p:cNvPr id="26" name="Shape 24"/>
          <p:cNvSpPr/>
          <p:nvPr/>
        </p:nvSpPr>
        <p:spPr>
          <a:xfrm>
            <a:off x="3383280" y="3255264"/>
            <a:ext cx="91440" cy="91440"/>
          </a:xfrm>
          <a:prstGeom prst="ellipse">
            <a:avLst/>
          </a:prstGeom>
          <a:solidFill>
            <a:srgbClr val="EACDC0"/>
          </a:solidFill>
          <a:ln/>
        </p:spPr>
      </p:sp>
      <p:sp>
        <p:nvSpPr>
          <p:cNvPr id="27" name="Text 25"/>
          <p:cNvSpPr/>
          <p:nvPr/>
        </p:nvSpPr>
        <p:spPr>
          <a:xfrm>
            <a:off x="3529584" y="3209544"/>
            <a:ext cx="2359152" cy="384048"/>
          </a:xfrm>
          <a:prstGeom prst="rect">
            <a:avLst/>
          </a:prstGeom>
          <a:noFill/>
          <a:ln/>
        </p:spPr>
        <p:txBody>
          <a:bodyPr wrap="square" lIns="0" tIns="0" rIns="0" bIns="0" rtlCol="0" anchor="ctr"/>
          <a:lstStyle/>
          <a:p>
            <a:pPr indent="0" marL="0">
              <a:buNone/>
            </a:pPr>
            <a:r>
              <a:rPr lang="en-US" sz="780" dirty="0">
                <a:solidFill>
                  <a:srgbClr val="2C2C2C"/>
                </a:solidFill>
              </a:rPr>
              <a:t>→ Rotate: aspirational → educational → soft sell → identity</a:t>
            </a:r>
            <a:endParaRPr lang="en-US" sz="780" dirty="0"/>
          </a:p>
        </p:txBody>
      </p:sp>
      <p:sp>
        <p:nvSpPr>
          <p:cNvPr id="28" name="Shape 26"/>
          <p:cNvSpPr/>
          <p:nvPr/>
        </p:nvSpPr>
        <p:spPr>
          <a:xfrm>
            <a:off x="3383280" y="3657600"/>
            <a:ext cx="91440" cy="91440"/>
          </a:xfrm>
          <a:prstGeom prst="ellipse">
            <a:avLst/>
          </a:prstGeom>
          <a:solidFill>
            <a:srgbClr val="EACDC0"/>
          </a:solidFill>
          <a:ln/>
        </p:spPr>
      </p:sp>
      <p:sp>
        <p:nvSpPr>
          <p:cNvPr id="29" name="Text 27"/>
          <p:cNvSpPr/>
          <p:nvPr/>
        </p:nvSpPr>
        <p:spPr>
          <a:xfrm>
            <a:off x="3529584" y="3611880"/>
            <a:ext cx="2359152" cy="384048"/>
          </a:xfrm>
          <a:prstGeom prst="rect">
            <a:avLst/>
          </a:prstGeom>
          <a:noFill/>
          <a:ln/>
        </p:spPr>
        <p:txBody>
          <a:bodyPr wrap="square" lIns="0" tIns="0" rIns="0" bIns="0" rtlCol="0" anchor="ctr"/>
          <a:lstStyle/>
          <a:p>
            <a:pPr indent="0" marL="0">
              <a:buNone/>
            </a:pPr>
            <a:r>
              <a:rPr lang="en-US" sz="780" dirty="0">
                <a:solidFill>
                  <a:srgbClr val="2C2C2C"/>
                </a:solidFill>
              </a:rPr>
              <a:t>→ Use DM keywords to trigger automated conversations</a:t>
            </a:r>
            <a:endParaRPr lang="en-US" sz="780" dirty="0"/>
          </a:p>
        </p:txBody>
      </p:sp>
      <p:sp>
        <p:nvSpPr>
          <p:cNvPr id="30" name="Shape 28"/>
          <p:cNvSpPr/>
          <p:nvPr/>
        </p:nvSpPr>
        <p:spPr>
          <a:xfrm>
            <a:off x="3383280" y="4059936"/>
            <a:ext cx="91440" cy="91440"/>
          </a:xfrm>
          <a:prstGeom prst="ellipse">
            <a:avLst/>
          </a:prstGeom>
          <a:solidFill>
            <a:srgbClr val="EACDC0"/>
          </a:solidFill>
          <a:ln/>
        </p:spPr>
      </p:sp>
      <p:sp>
        <p:nvSpPr>
          <p:cNvPr id="31" name="Text 29"/>
          <p:cNvSpPr/>
          <p:nvPr/>
        </p:nvSpPr>
        <p:spPr>
          <a:xfrm>
            <a:off x="3529584" y="4014216"/>
            <a:ext cx="2359152" cy="384048"/>
          </a:xfrm>
          <a:prstGeom prst="rect">
            <a:avLst/>
          </a:prstGeom>
          <a:noFill/>
          <a:ln/>
        </p:spPr>
        <p:txBody>
          <a:bodyPr wrap="square" lIns="0" tIns="0" rIns="0" bIns="0" rtlCol="0" anchor="ctr"/>
          <a:lstStyle/>
          <a:p>
            <a:pPr indent="0" marL="0">
              <a:buNone/>
            </a:pPr>
            <a:r>
              <a:rPr lang="en-US" sz="780" dirty="0">
                <a:solidFill>
                  <a:srgbClr val="2C2C2C"/>
                </a:solidFill>
              </a:rPr>
              <a:t>→ Batch content weekly — one 2-hour session per week is enough</a:t>
            </a:r>
            <a:endParaRPr lang="en-US" sz="780" dirty="0"/>
          </a:p>
        </p:txBody>
      </p:sp>
      <p:sp>
        <p:nvSpPr>
          <p:cNvPr id="32" name="Shape 30"/>
          <p:cNvSpPr/>
          <p:nvPr/>
        </p:nvSpPr>
        <p:spPr>
          <a:xfrm>
            <a:off x="6199632" y="749808"/>
            <a:ext cx="2743200" cy="4133088"/>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33" name="Shape 31"/>
          <p:cNvSpPr/>
          <p:nvPr/>
        </p:nvSpPr>
        <p:spPr>
          <a:xfrm>
            <a:off x="6199632" y="749808"/>
            <a:ext cx="2743200" cy="475488"/>
          </a:xfrm>
          <a:prstGeom prst="rect">
            <a:avLst/>
          </a:prstGeom>
          <a:solidFill>
            <a:srgbClr val="2C4A3E"/>
          </a:solidFill>
          <a:ln/>
        </p:spPr>
      </p:sp>
      <p:sp>
        <p:nvSpPr>
          <p:cNvPr id="34" name="Text 32"/>
          <p:cNvSpPr/>
          <p:nvPr/>
        </p:nvSpPr>
        <p:spPr>
          <a:xfrm>
            <a:off x="6309360" y="749808"/>
            <a:ext cx="457200" cy="475488"/>
          </a:xfrm>
          <a:prstGeom prst="rect">
            <a:avLst/>
          </a:prstGeom>
          <a:noFill/>
          <a:ln/>
        </p:spPr>
        <p:txBody>
          <a:bodyPr wrap="square" lIns="0" tIns="0" rIns="0" bIns="0" rtlCol="0" anchor="ctr"/>
          <a:lstStyle/>
          <a:p>
            <a:pPr algn="l" indent="0" marL="0">
              <a:buNone/>
            </a:pPr>
            <a:r>
              <a:rPr lang="en-US" sz="1600" b="1" dirty="0">
                <a:solidFill>
                  <a:srgbClr val="C9A96E"/>
                </a:solidFill>
              </a:rPr>
              <a:t>06</a:t>
            </a:r>
            <a:endParaRPr lang="en-US" sz="1600" dirty="0"/>
          </a:p>
        </p:txBody>
      </p:sp>
      <p:sp>
        <p:nvSpPr>
          <p:cNvPr id="35" name="Text 33"/>
          <p:cNvSpPr/>
          <p:nvPr/>
        </p:nvSpPr>
        <p:spPr>
          <a:xfrm>
            <a:off x="6309360" y="1335024"/>
            <a:ext cx="2523744" cy="530352"/>
          </a:xfrm>
          <a:prstGeom prst="rect">
            <a:avLst/>
          </a:prstGeom>
          <a:noFill/>
          <a:ln/>
        </p:spPr>
        <p:txBody>
          <a:bodyPr wrap="square" lIns="0" tIns="0" rIns="0" bIns="0" rtlCol="0" anchor="ctr"/>
          <a:lstStyle/>
          <a:p>
            <a:pPr algn="l" indent="0" marL="0">
              <a:buNone/>
            </a:pPr>
            <a:r>
              <a:rPr lang="en-US" sz="1100" b="1" dirty="0">
                <a:solidFill>
                  <a:srgbClr val="2C4A3E"/>
                </a:solidFill>
              </a:rPr>
              <a:t>Monetize Your Muse</a:t>
            </a:r>
            <a:endParaRPr lang="en-US" sz="1100" dirty="0"/>
          </a:p>
        </p:txBody>
      </p:sp>
      <p:sp>
        <p:nvSpPr>
          <p:cNvPr id="36" name="Text 34"/>
          <p:cNvSpPr/>
          <p:nvPr/>
        </p:nvSpPr>
        <p:spPr>
          <a:xfrm>
            <a:off x="6309360" y="1901952"/>
            <a:ext cx="2523744" cy="777240"/>
          </a:xfrm>
          <a:prstGeom prst="rect">
            <a:avLst/>
          </a:prstGeom>
          <a:noFill/>
          <a:ln/>
        </p:spPr>
        <p:txBody>
          <a:bodyPr wrap="square" lIns="0" tIns="0" rIns="0" bIns="0" rtlCol="0" anchor="ctr"/>
          <a:lstStyle/>
          <a:p>
            <a:pPr algn="l" indent="0" marL="0">
              <a:buNone/>
            </a:pPr>
            <a:r>
              <a:rPr lang="en-US" sz="850" dirty="0">
                <a:solidFill>
                  <a:srgbClr val="5C5050"/>
                </a:solidFill>
              </a:rPr>
              <a:t>Your Muse is not just an aesthetic — she is an income asset. Here is how AI influencers generate real revenue:</a:t>
            </a:r>
            <a:endParaRPr lang="en-US" sz="850" dirty="0"/>
          </a:p>
        </p:txBody>
      </p:sp>
      <p:sp>
        <p:nvSpPr>
          <p:cNvPr id="37" name="Shape 35"/>
          <p:cNvSpPr/>
          <p:nvPr/>
        </p:nvSpPr>
        <p:spPr>
          <a:xfrm>
            <a:off x="6309360" y="2715768"/>
            <a:ext cx="365760" cy="36576"/>
          </a:xfrm>
          <a:prstGeom prst="rect">
            <a:avLst/>
          </a:prstGeom>
          <a:solidFill>
            <a:srgbClr val="C9A96E"/>
          </a:solidFill>
          <a:ln/>
        </p:spPr>
      </p:sp>
      <p:sp>
        <p:nvSpPr>
          <p:cNvPr id="38" name="Shape 36"/>
          <p:cNvSpPr/>
          <p:nvPr/>
        </p:nvSpPr>
        <p:spPr>
          <a:xfrm>
            <a:off x="6309360" y="2852928"/>
            <a:ext cx="91440" cy="91440"/>
          </a:xfrm>
          <a:prstGeom prst="ellipse">
            <a:avLst/>
          </a:prstGeom>
          <a:solidFill>
            <a:srgbClr val="C9A96E"/>
          </a:solidFill>
          <a:ln/>
        </p:spPr>
      </p:sp>
      <p:sp>
        <p:nvSpPr>
          <p:cNvPr id="39" name="Text 37"/>
          <p:cNvSpPr/>
          <p:nvPr/>
        </p:nvSpPr>
        <p:spPr>
          <a:xfrm>
            <a:off x="6455664" y="2807208"/>
            <a:ext cx="2359152" cy="384048"/>
          </a:xfrm>
          <a:prstGeom prst="rect">
            <a:avLst/>
          </a:prstGeom>
          <a:noFill/>
          <a:ln/>
        </p:spPr>
        <p:txBody>
          <a:bodyPr wrap="square" lIns="0" tIns="0" rIns="0" bIns="0" rtlCol="0" anchor="ctr"/>
          <a:lstStyle/>
          <a:p>
            <a:pPr indent="0" marL="0">
              <a:buNone/>
            </a:pPr>
            <a:r>
              <a:rPr lang="en-US" sz="780" dirty="0">
                <a:solidFill>
                  <a:srgbClr val="2C2C2C"/>
                </a:solidFill>
              </a:rPr>
              <a:t>→ Digital products — guides, templates, systems, courses</a:t>
            </a:r>
            <a:endParaRPr lang="en-US" sz="780" dirty="0"/>
          </a:p>
        </p:txBody>
      </p:sp>
      <p:sp>
        <p:nvSpPr>
          <p:cNvPr id="40" name="Shape 38"/>
          <p:cNvSpPr/>
          <p:nvPr/>
        </p:nvSpPr>
        <p:spPr>
          <a:xfrm>
            <a:off x="6309360" y="3255264"/>
            <a:ext cx="91440" cy="91440"/>
          </a:xfrm>
          <a:prstGeom prst="ellipse">
            <a:avLst/>
          </a:prstGeom>
          <a:solidFill>
            <a:srgbClr val="C9A96E"/>
          </a:solidFill>
          <a:ln/>
        </p:spPr>
      </p:sp>
      <p:sp>
        <p:nvSpPr>
          <p:cNvPr id="41" name="Text 39"/>
          <p:cNvSpPr/>
          <p:nvPr/>
        </p:nvSpPr>
        <p:spPr>
          <a:xfrm>
            <a:off x="6455664" y="3209544"/>
            <a:ext cx="2359152" cy="384048"/>
          </a:xfrm>
          <a:prstGeom prst="rect">
            <a:avLst/>
          </a:prstGeom>
          <a:noFill/>
          <a:ln/>
        </p:spPr>
        <p:txBody>
          <a:bodyPr wrap="square" lIns="0" tIns="0" rIns="0" bIns="0" rtlCol="0" anchor="ctr"/>
          <a:lstStyle/>
          <a:p>
            <a:pPr indent="0" marL="0">
              <a:buNone/>
            </a:pPr>
            <a:r>
              <a:rPr lang="en-US" sz="780" dirty="0">
                <a:solidFill>
                  <a:srgbClr val="2C2C2C"/>
                </a:solidFill>
              </a:rPr>
              <a:t>→ Affiliate marketing — promote tools and programs you believe in</a:t>
            </a:r>
            <a:endParaRPr lang="en-US" sz="780" dirty="0"/>
          </a:p>
        </p:txBody>
      </p:sp>
      <p:sp>
        <p:nvSpPr>
          <p:cNvPr id="42" name="Shape 40"/>
          <p:cNvSpPr/>
          <p:nvPr/>
        </p:nvSpPr>
        <p:spPr>
          <a:xfrm>
            <a:off x="6309360" y="3657600"/>
            <a:ext cx="91440" cy="91440"/>
          </a:xfrm>
          <a:prstGeom prst="ellipse">
            <a:avLst/>
          </a:prstGeom>
          <a:solidFill>
            <a:srgbClr val="C9A96E"/>
          </a:solidFill>
          <a:ln/>
        </p:spPr>
      </p:sp>
      <p:sp>
        <p:nvSpPr>
          <p:cNvPr id="43" name="Text 41"/>
          <p:cNvSpPr/>
          <p:nvPr/>
        </p:nvSpPr>
        <p:spPr>
          <a:xfrm>
            <a:off x="6455664" y="3611880"/>
            <a:ext cx="2359152" cy="384048"/>
          </a:xfrm>
          <a:prstGeom prst="rect">
            <a:avLst/>
          </a:prstGeom>
          <a:noFill/>
          <a:ln/>
        </p:spPr>
        <p:txBody>
          <a:bodyPr wrap="square" lIns="0" tIns="0" rIns="0" bIns="0" rtlCol="0" anchor="ctr"/>
          <a:lstStyle/>
          <a:p>
            <a:pPr indent="0" marL="0">
              <a:buNone/>
            </a:pPr>
            <a:r>
              <a:rPr lang="en-US" sz="780" dirty="0">
                <a:solidFill>
                  <a:srgbClr val="2C2C2C"/>
                </a:solidFill>
              </a:rPr>
              <a:t>→ UGC content creation — brands pay for AI-generated product content</a:t>
            </a:r>
            <a:endParaRPr lang="en-US" sz="780" dirty="0"/>
          </a:p>
        </p:txBody>
      </p:sp>
      <p:sp>
        <p:nvSpPr>
          <p:cNvPr id="44" name="Shape 42"/>
          <p:cNvSpPr/>
          <p:nvPr/>
        </p:nvSpPr>
        <p:spPr>
          <a:xfrm>
            <a:off x="6309360" y="4059936"/>
            <a:ext cx="91440" cy="91440"/>
          </a:xfrm>
          <a:prstGeom prst="ellipse">
            <a:avLst/>
          </a:prstGeom>
          <a:solidFill>
            <a:srgbClr val="C9A96E"/>
          </a:solidFill>
          <a:ln/>
        </p:spPr>
      </p:sp>
      <p:sp>
        <p:nvSpPr>
          <p:cNvPr id="45" name="Text 43"/>
          <p:cNvSpPr/>
          <p:nvPr/>
        </p:nvSpPr>
        <p:spPr>
          <a:xfrm>
            <a:off x="6455664" y="4014216"/>
            <a:ext cx="2359152" cy="384048"/>
          </a:xfrm>
          <a:prstGeom prst="rect">
            <a:avLst/>
          </a:prstGeom>
          <a:noFill/>
          <a:ln/>
        </p:spPr>
        <p:txBody>
          <a:bodyPr wrap="square" lIns="0" tIns="0" rIns="0" bIns="0" rtlCol="0" anchor="ctr"/>
          <a:lstStyle/>
          <a:p>
            <a:pPr indent="0" marL="0">
              <a:buNone/>
            </a:pPr>
            <a:r>
              <a:rPr lang="en-US" sz="780" dirty="0">
                <a:solidFill>
                  <a:srgbClr val="2C2C2C"/>
                </a:solidFill>
              </a:rPr>
              <a:t>→ Community &amp; membership — exclusive access to your Muse's world</a:t>
            </a:r>
            <a:endParaRPr lang="en-US" sz="780" dirty="0"/>
          </a:p>
        </p:txBody>
      </p:sp>
      <p:sp>
        <p:nvSpPr>
          <p:cNvPr id="46" name="Text 44"/>
          <p:cNvSpPr/>
          <p:nvPr/>
        </p:nvSpPr>
        <p:spPr>
          <a:xfrm>
            <a:off x="457200" y="4759452"/>
            <a:ext cx="8229600" cy="256032"/>
          </a:xfrm>
          <a:prstGeom prst="rect">
            <a:avLst/>
          </a:prstGeom>
          <a:noFill/>
          <a:ln/>
        </p:spPr>
        <p:txBody>
          <a:bodyPr wrap="square" lIns="0" tIns="0" rIns="0" bIns="0" rtlCol="0" anchor="ctr"/>
          <a:lstStyle/>
          <a:p>
            <a:pPr algn="ctr" indent="0" marL="0">
              <a:buNone/>
            </a:pPr>
            <a:r>
              <a:rPr lang="en-US" sz="650" i="1" dirty="0">
                <a:solidFill>
                  <a:srgbClr val="9B8577"/>
                </a:solidFill>
              </a:rPr>
              <a:t>Results shown are examples, not guarantees. Independent income depends on your expertise, effort and execution.</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C4A3E"/>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0"/>
          </a:xfrm>
          <a:prstGeom prst="rect">
            <a:avLst/>
          </a:prstGeom>
          <a:noFill/>
          <a:ln/>
        </p:spPr>
        <p:txBody>
          <a:bodyPr wrap="square" lIns="0" tIns="0" rIns="0" bIns="0" rtlCol="0" anchor="ctr"/>
          <a:lstStyle/>
          <a:p>
            <a:pPr algn="ctr" indent="0" marL="0">
              <a:buNone/>
            </a:pPr>
            <a:r>
              <a:rPr lang="en-US" sz="16000" b="1" dirty="0">
                <a:solidFill>
                  <a:srgbClr val="1E3630"/>
                </a:solidFill>
              </a:rPr>
              <a:t>02</a:t>
            </a:r>
            <a:endParaRPr lang="en-US" sz="16000" dirty="0"/>
          </a:p>
        </p:txBody>
      </p:sp>
      <p:sp>
        <p:nvSpPr>
          <p:cNvPr id="3" name="Text 1"/>
          <p:cNvSpPr/>
          <p:nvPr/>
        </p:nvSpPr>
        <p:spPr>
          <a:xfrm>
            <a:off x="457200" y="1417320"/>
            <a:ext cx="8229600" cy="548640"/>
          </a:xfrm>
          <a:prstGeom prst="rect">
            <a:avLst/>
          </a:prstGeom>
          <a:noFill/>
          <a:ln/>
        </p:spPr>
        <p:txBody>
          <a:bodyPr wrap="square" lIns="0" tIns="0" rIns="0" bIns="0" rtlCol="0" anchor="ctr"/>
          <a:lstStyle/>
          <a:p>
            <a:pPr algn="ctr" indent="0" marL="0">
              <a:buNone/>
            </a:pPr>
            <a:r>
              <a:rPr lang="en-US" sz="1100" b="1" spc="500" kern="0" dirty="0">
                <a:solidFill>
                  <a:srgbClr val="C9A96E"/>
                </a:solidFill>
              </a:rPr>
              <a:t>THE SYSTEM</a:t>
            </a:r>
            <a:endParaRPr lang="en-US" sz="1100" dirty="0"/>
          </a:p>
        </p:txBody>
      </p:sp>
      <p:sp>
        <p:nvSpPr>
          <p:cNvPr id="4" name="Text 2"/>
          <p:cNvSpPr/>
          <p:nvPr/>
        </p:nvSpPr>
        <p:spPr>
          <a:xfrm>
            <a:off x="457200" y="1965960"/>
            <a:ext cx="8229600" cy="822960"/>
          </a:xfrm>
          <a:prstGeom prst="rect">
            <a:avLst/>
          </a:prstGeom>
          <a:noFill/>
          <a:ln/>
        </p:spPr>
        <p:txBody>
          <a:bodyPr wrap="square" lIns="0" tIns="0" rIns="0" bIns="0" rtlCol="0" anchor="ctr"/>
          <a:lstStyle/>
          <a:p>
            <a:pPr algn="ctr" indent="0" marL="0">
              <a:buNone/>
            </a:pPr>
            <a:r>
              <a:rPr lang="en-US" sz="3400" b="1" dirty="0">
                <a:solidFill>
                  <a:srgbClr val="FFFFFF"/>
                </a:solidFill>
              </a:rPr>
              <a:t>AiMUSE Alchemy™</a:t>
            </a:r>
            <a:endParaRPr lang="en-US" sz="3400" dirty="0"/>
          </a:p>
        </p:txBody>
      </p:sp>
      <p:sp>
        <p:nvSpPr>
          <p:cNvPr id="5" name="Text 3"/>
          <p:cNvSpPr/>
          <p:nvPr/>
        </p:nvSpPr>
        <p:spPr>
          <a:xfrm>
            <a:off x="457200" y="2834640"/>
            <a:ext cx="8229600" cy="457200"/>
          </a:xfrm>
          <a:prstGeom prst="rect">
            <a:avLst/>
          </a:prstGeom>
          <a:noFill/>
          <a:ln/>
        </p:spPr>
        <p:txBody>
          <a:bodyPr wrap="square" lIns="0" tIns="0" rIns="0" bIns="0" rtlCol="0" anchor="ctr"/>
          <a:lstStyle/>
          <a:p>
            <a:pPr algn="ctr" indent="0" marL="0">
              <a:buNone/>
            </a:pPr>
            <a:r>
              <a:rPr lang="en-US" sz="1300" i="1" dirty="0">
                <a:solidFill>
                  <a:srgbClr val="EACDC0"/>
                </a:solidFill>
              </a:rPr>
              <a:t>The complete AI creation &amp; branding system for digital creators</a:t>
            </a:r>
            <a:endParaRPr lang="en-US" sz="1300" dirty="0"/>
          </a:p>
        </p:txBody>
      </p:sp>
      <p:sp>
        <p:nvSpPr>
          <p:cNvPr id="6" name="Shape 4"/>
          <p:cNvSpPr/>
          <p:nvPr/>
        </p:nvSpPr>
        <p:spPr>
          <a:xfrm>
            <a:off x="3657600" y="3429000"/>
            <a:ext cx="1828800" cy="45720"/>
          </a:xfrm>
          <a:prstGeom prst="rect">
            <a:avLst/>
          </a:prstGeom>
          <a:solidFill>
            <a:srgbClr val="C9A96E"/>
          </a:solidFill>
          <a:ln/>
        </p:spPr>
      </p:sp>
      <p:pic>
        <p:nvPicPr>
          <p:cNvPr id="7" name="Image 0" descr="preencoded.png">    </p:cNvPr>
          <p:cNvPicPr>
            <a:picLocks noChangeAspect="1"/>
          </p:cNvPicPr>
          <p:nvPr/>
        </p:nvPicPr>
        <p:blipFill>
          <a:blip r:embed="rId1"/>
          <a:stretch>
            <a:fillRect/>
          </a:stretch>
        </p:blipFill>
        <p:spPr>
          <a:xfrm>
            <a:off x="274320" y="3840480"/>
            <a:ext cx="1280160" cy="12710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F2"/>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4A3E"/>
          </a:solidFill>
          <a:ln/>
        </p:spPr>
      </p:sp>
      <p:sp>
        <p:nvSpPr>
          <p:cNvPr id="3" name="Text 1"/>
          <p:cNvSpPr/>
          <p:nvPr/>
        </p:nvSpPr>
        <p:spPr>
          <a:xfrm>
            <a:off x="457200" y="0"/>
            <a:ext cx="8229600" cy="640080"/>
          </a:xfrm>
          <a:prstGeom prst="rect">
            <a:avLst/>
          </a:prstGeom>
          <a:noFill/>
          <a:ln/>
        </p:spPr>
        <p:txBody>
          <a:bodyPr wrap="square" lIns="0" tIns="0" rIns="0" bIns="0" rtlCol="0" anchor="ctr"/>
          <a:lstStyle/>
          <a:p>
            <a:pPr algn="ctr" indent="0" marL="0">
              <a:buNone/>
            </a:pPr>
            <a:r>
              <a:rPr lang="en-US" sz="800" b="1" spc="300" kern="0" dirty="0">
                <a:solidFill>
                  <a:srgbClr val="C9A96E"/>
                </a:solidFill>
              </a:rPr>
              <a:t>AiMUSE ALCHEMY™ · INSIDE THE SYSTEM</a:t>
            </a:r>
            <a:endParaRPr lang="en-US" sz="800" dirty="0"/>
          </a:p>
        </p:txBody>
      </p:sp>
      <p:sp>
        <p:nvSpPr>
          <p:cNvPr id="4" name="Shape 2"/>
          <p:cNvSpPr/>
          <p:nvPr/>
        </p:nvSpPr>
        <p:spPr>
          <a:xfrm>
            <a:off x="457200" y="749808"/>
            <a:ext cx="1874520" cy="804672"/>
          </a:xfrm>
          <a:prstGeom prst="rect">
            <a:avLst/>
          </a:prstGeom>
          <a:solidFill>
            <a:srgbClr val="2C4A3E"/>
          </a:solidFill>
          <a:ln/>
        </p:spPr>
      </p:sp>
      <p:sp>
        <p:nvSpPr>
          <p:cNvPr id="5" name="Text 3"/>
          <p:cNvSpPr/>
          <p:nvPr/>
        </p:nvSpPr>
        <p:spPr>
          <a:xfrm>
            <a:off x="457200" y="768096"/>
            <a:ext cx="1874520" cy="384048"/>
          </a:xfrm>
          <a:prstGeom prst="rect">
            <a:avLst/>
          </a:prstGeom>
          <a:noFill/>
          <a:ln/>
        </p:spPr>
        <p:txBody>
          <a:bodyPr wrap="square" lIns="0" tIns="0" rIns="0" bIns="0" rtlCol="0" anchor="ctr"/>
          <a:lstStyle/>
          <a:p>
            <a:pPr algn="ctr" indent="0" marL="0">
              <a:buNone/>
            </a:pPr>
            <a:r>
              <a:rPr lang="en-US" sz="2000" b="1" dirty="0">
                <a:solidFill>
                  <a:srgbClr val="C9A96E"/>
                </a:solidFill>
              </a:rPr>
              <a:t>1,600+</a:t>
            </a:r>
            <a:endParaRPr lang="en-US" sz="2000" dirty="0"/>
          </a:p>
        </p:txBody>
      </p:sp>
      <p:sp>
        <p:nvSpPr>
          <p:cNvPr id="6" name="Text 4"/>
          <p:cNvSpPr/>
          <p:nvPr/>
        </p:nvSpPr>
        <p:spPr>
          <a:xfrm>
            <a:off x="457200" y="1133856"/>
            <a:ext cx="1874520" cy="274320"/>
          </a:xfrm>
          <a:prstGeom prst="rect">
            <a:avLst/>
          </a:prstGeom>
          <a:noFill/>
          <a:ln/>
        </p:spPr>
        <p:txBody>
          <a:bodyPr wrap="square" lIns="0" tIns="0" rIns="0" bIns="0" rtlCol="0" anchor="ctr"/>
          <a:lstStyle/>
          <a:p>
            <a:pPr algn="ctr" indent="0" marL="0">
              <a:buNone/>
            </a:pPr>
            <a:r>
              <a:rPr lang="en-US" sz="800" dirty="0">
                <a:solidFill>
                  <a:srgbClr val="F5EFE8"/>
                </a:solidFill>
              </a:rPr>
              <a:t>Muses Inside</a:t>
            </a:r>
            <a:endParaRPr lang="en-US" sz="800" dirty="0"/>
          </a:p>
        </p:txBody>
      </p:sp>
      <p:sp>
        <p:nvSpPr>
          <p:cNvPr id="7" name="Shape 5"/>
          <p:cNvSpPr/>
          <p:nvPr/>
        </p:nvSpPr>
        <p:spPr>
          <a:xfrm>
            <a:off x="2542032" y="749808"/>
            <a:ext cx="1874520" cy="804672"/>
          </a:xfrm>
          <a:prstGeom prst="rect">
            <a:avLst/>
          </a:prstGeom>
          <a:solidFill>
            <a:srgbClr val="EACDC0"/>
          </a:solidFill>
          <a:ln/>
        </p:spPr>
      </p:sp>
      <p:sp>
        <p:nvSpPr>
          <p:cNvPr id="8" name="Text 6"/>
          <p:cNvSpPr/>
          <p:nvPr/>
        </p:nvSpPr>
        <p:spPr>
          <a:xfrm>
            <a:off x="2542032" y="768096"/>
            <a:ext cx="1874520" cy="384048"/>
          </a:xfrm>
          <a:prstGeom prst="rect">
            <a:avLst/>
          </a:prstGeom>
          <a:noFill/>
          <a:ln/>
        </p:spPr>
        <p:txBody>
          <a:bodyPr wrap="square" lIns="0" tIns="0" rIns="0" bIns="0" rtlCol="0" anchor="ctr"/>
          <a:lstStyle/>
          <a:p>
            <a:pPr algn="ctr" indent="0" marL="0">
              <a:buNone/>
            </a:pPr>
            <a:r>
              <a:rPr lang="en-US" sz="2000" b="1" dirty="0">
                <a:solidFill>
                  <a:srgbClr val="2C4A3E"/>
                </a:solidFill>
              </a:rPr>
              <a:t>2,000+</a:t>
            </a:r>
            <a:endParaRPr lang="en-US" sz="2000" dirty="0"/>
          </a:p>
        </p:txBody>
      </p:sp>
      <p:sp>
        <p:nvSpPr>
          <p:cNvPr id="9" name="Text 7"/>
          <p:cNvSpPr/>
          <p:nvPr/>
        </p:nvSpPr>
        <p:spPr>
          <a:xfrm>
            <a:off x="2542032" y="1133856"/>
            <a:ext cx="1874520" cy="274320"/>
          </a:xfrm>
          <a:prstGeom prst="rect">
            <a:avLst/>
          </a:prstGeom>
          <a:noFill/>
          <a:ln/>
        </p:spPr>
        <p:txBody>
          <a:bodyPr wrap="square" lIns="0" tIns="0" rIns="0" bIns="0" rtlCol="0" anchor="ctr"/>
          <a:lstStyle/>
          <a:p>
            <a:pPr algn="ctr" indent="0" marL="0">
              <a:buNone/>
            </a:pPr>
            <a:r>
              <a:rPr lang="en-US" sz="800" dirty="0">
                <a:solidFill>
                  <a:srgbClr val="2C4A3E"/>
                </a:solidFill>
              </a:rPr>
              <a:t>AI Prompts</a:t>
            </a:r>
            <a:endParaRPr lang="en-US" sz="800" dirty="0"/>
          </a:p>
        </p:txBody>
      </p:sp>
      <p:sp>
        <p:nvSpPr>
          <p:cNvPr id="10" name="Shape 8"/>
          <p:cNvSpPr/>
          <p:nvPr/>
        </p:nvSpPr>
        <p:spPr>
          <a:xfrm>
            <a:off x="4626864" y="749808"/>
            <a:ext cx="1874520" cy="804672"/>
          </a:xfrm>
          <a:prstGeom prst="rect">
            <a:avLst/>
          </a:prstGeom>
          <a:solidFill>
            <a:srgbClr val="2C4A3E"/>
          </a:solidFill>
          <a:ln/>
        </p:spPr>
      </p:sp>
      <p:sp>
        <p:nvSpPr>
          <p:cNvPr id="11" name="Text 9"/>
          <p:cNvSpPr/>
          <p:nvPr/>
        </p:nvSpPr>
        <p:spPr>
          <a:xfrm>
            <a:off x="4626864" y="768096"/>
            <a:ext cx="1874520" cy="384048"/>
          </a:xfrm>
          <a:prstGeom prst="rect">
            <a:avLst/>
          </a:prstGeom>
          <a:noFill/>
          <a:ln/>
        </p:spPr>
        <p:txBody>
          <a:bodyPr wrap="square" lIns="0" tIns="0" rIns="0" bIns="0" rtlCol="0" anchor="ctr"/>
          <a:lstStyle/>
          <a:p>
            <a:pPr algn="ctr" indent="0" marL="0">
              <a:buNone/>
            </a:pPr>
            <a:r>
              <a:rPr lang="en-US" sz="2000" b="1" dirty="0">
                <a:solidFill>
                  <a:srgbClr val="C9A96E"/>
                </a:solidFill>
              </a:rPr>
              <a:t>4+</a:t>
            </a:r>
            <a:endParaRPr lang="en-US" sz="2000" dirty="0"/>
          </a:p>
        </p:txBody>
      </p:sp>
      <p:sp>
        <p:nvSpPr>
          <p:cNvPr id="12" name="Text 10"/>
          <p:cNvSpPr/>
          <p:nvPr/>
        </p:nvSpPr>
        <p:spPr>
          <a:xfrm>
            <a:off x="4626864" y="1133856"/>
            <a:ext cx="1874520" cy="274320"/>
          </a:xfrm>
          <a:prstGeom prst="rect">
            <a:avLst/>
          </a:prstGeom>
          <a:noFill/>
          <a:ln/>
        </p:spPr>
        <p:txBody>
          <a:bodyPr wrap="square" lIns="0" tIns="0" rIns="0" bIns="0" rtlCol="0" anchor="ctr"/>
          <a:lstStyle/>
          <a:p>
            <a:pPr algn="ctr" indent="0" marL="0">
              <a:buNone/>
            </a:pPr>
            <a:r>
              <a:rPr lang="en-US" sz="800" dirty="0">
                <a:solidFill>
                  <a:srgbClr val="F5EFE8"/>
                </a:solidFill>
              </a:rPr>
              <a:t>Director Bots</a:t>
            </a:r>
            <a:endParaRPr lang="en-US" sz="800" dirty="0"/>
          </a:p>
        </p:txBody>
      </p:sp>
      <p:sp>
        <p:nvSpPr>
          <p:cNvPr id="13" name="Shape 11"/>
          <p:cNvSpPr/>
          <p:nvPr/>
        </p:nvSpPr>
        <p:spPr>
          <a:xfrm>
            <a:off x="6711696" y="749808"/>
            <a:ext cx="1874520" cy="804672"/>
          </a:xfrm>
          <a:prstGeom prst="rect">
            <a:avLst/>
          </a:prstGeom>
          <a:solidFill>
            <a:srgbClr val="EACDC0"/>
          </a:solidFill>
          <a:ln/>
        </p:spPr>
      </p:sp>
      <p:sp>
        <p:nvSpPr>
          <p:cNvPr id="14" name="Text 12"/>
          <p:cNvSpPr/>
          <p:nvPr/>
        </p:nvSpPr>
        <p:spPr>
          <a:xfrm>
            <a:off x="6711696" y="768096"/>
            <a:ext cx="1874520" cy="384048"/>
          </a:xfrm>
          <a:prstGeom prst="rect">
            <a:avLst/>
          </a:prstGeom>
          <a:noFill/>
          <a:ln/>
        </p:spPr>
        <p:txBody>
          <a:bodyPr wrap="square" lIns="0" tIns="0" rIns="0" bIns="0" rtlCol="0" anchor="ctr"/>
          <a:lstStyle/>
          <a:p>
            <a:pPr algn="ctr" indent="0" marL="0">
              <a:buNone/>
            </a:pPr>
            <a:r>
              <a:rPr lang="en-US" sz="2000" b="1" dirty="0">
                <a:solidFill>
                  <a:srgbClr val="2C4A3E"/>
                </a:solidFill>
              </a:rPr>
              <a:t>9</a:t>
            </a:r>
            <a:endParaRPr lang="en-US" sz="2000" dirty="0"/>
          </a:p>
        </p:txBody>
      </p:sp>
      <p:sp>
        <p:nvSpPr>
          <p:cNvPr id="15" name="Text 13"/>
          <p:cNvSpPr/>
          <p:nvPr/>
        </p:nvSpPr>
        <p:spPr>
          <a:xfrm>
            <a:off x="6711696" y="1133856"/>
            <a:ext cx="1874520" cy="274320"/>
          </a:xfrm>
          <a:prstGeom prst="rect">
            <a:avLst/>
          </a:prstGeom>
          <a:noFill/>
          <a:ln/>
        </p:spPr>
        <p:txBody>
          <a:bodyPr wrap="square" lIns="0" tIns="0" rIns="0" bIns="0" rtlCol="0" anchor="ctr"/>
          <a:lstStyle/>
          <a:p>
            <a:pPr algn="ctr" indent="0" marL="0">
              <a:buNone/>
            </a:pPr>
            <a:r>
              <a:rPr lang="en-US" sz="800" dirty="0">
                <a:solidFill>
                  <a:srgbClr val="2C4A3E"/>
                </a:solidFill>
              </a:rPr>
              <a:t>Creation Modules</a:t>
            </a:r>
            <a:endParaRPr lang="en-US" sz="800" dirty="0"/>
          </a:p>
        </p:txBody>
      </p:sp>
      <p:sp>
        <p:nvSpPr>
          <p:cNvPr id="16" name="Text 14"/>
          <p:cNvSpPr/>
          <p:nvPr/>
        </p:nvSpPr>
        <p:spPr>
          <a:xfrm>
            <a:off x="457200" y="1700784"/>
            <a:ext cx="4023360" cy="347472"/>
          </a:xfrm>
          <a:prstGeom prst="rect">
            <a:avLst/>
          </a:prstGeom>
          <a:noFill/>
          <a:ln/>
        </p:spPr>
        <p:txBody>
          <a:bodyPr wrap="square" lIns="0" tIns="0" rIns="0" bIns="0" rtlCol="0" anchor="ctr"/>
          <a:lstStyle/>
          <a:p>
            <a:pPr algn="l" indent="0" marL="0">
              <a:buNone/>
            </a:pPr>
            <a:r>
              <a:rPr lang="en-US" sz="1300" b="1" dirty="0">
                <a:solidFill>
                  <a:srgbClr val="2C4A3E"/>
                </a:solidFill>
              </a:rPr>
              <a:t>The 4 AI Director Bots</a:t>
            </a:r>
            <a:endParaRPr lang="en-US" sz="1300" dirty="0"/>
          </a:p>
        </p:txBody>
      </p:sp>
      <p:sp>
        <p:nvSpPr>
          <p:cNvPr id="17" name="Shape 15"/>
          <p:cNvSpPr/>
          <p:nvPr/>
        </p:nvSpPr>
        <p:spPr>
          <a:xfrm>
            <a:off x="457200" y="2121408"/>
            <a:ext cx="73152" cy="502920"/>
          </a:xfrm>
          <a:prstGeom prst="rect">
            <a:avLst/>
          </a:prstGeom>
          <a:solidFill>
            <a:srgbClr val="C9A96E"/>
          </a:solidFill>
          <a:ln/>
        </p:spPr>
      </p:sp>
      <p:sp>
        <p:nvSpPr>
          <p:cNvPr id="18" name="Text 16"/>
          <p:cNvSpPr/>
          <p:nvPr/>
        </p:nvSpPr>
        <p:spPr>
          <a:xfrm>
            <a:off x="640080" y="2103120"/>
            <a:ext cx="3749040" cy="274320"/>
          </a:xfrm>
          <a:prstGeom prst="rect">
            <a:avLst/>
          </a:prstGeom>
          <a:noFill/>
          <a:ln/>
        </p:spPr>
        <p:txBody>
          <a:bodyPr wrap="square" lIns="0" tIns="0" rIns="0" bIns="0" rtlCol="0" anchor="ctr"/>
          <a:lstStyle/>
          <a:p>
            <a:pPr algn="l" indent="0" marL="0">
              <a:buNone/>
            </a:pPr>
            <a:r>
              <a:rPr lang="en-US" sz="900" b="1" dirty="0">
                <a:solidFill>
                  <a:srgbClr val="2C4A3E"/>
                </a:solidFill>
              </a:rPr>
              <a:t>AiMUSE Video Director Bot</a:t>
            </a:r>
            <a:endParaRPr lang="en-US" sz="900" dirty="0"/>
          </a:p>
        </p:txBody>
      </p:sp>
      <p:sp>
        <p:nvSpPr>
          <p:cNvPr id="19" name="Text 17"/>
          <p:cNvSpPr/>
          <p:nvPr/>
        </p:nvSpPr>
        <p:spPr>
          <a:xfrm>
            <a:off x="640080" y="2350008"/>
            <a:ext cx="3749040" cy="402336"/>
          </a:xfrm>
          <a:prstGeom prst="rect">
            <a:avLst/>
          </a:prstGeom>
          <a:noFill/>
          <a:ln/>
        </p:spPr>
        <p:txBody>
          <a:bodyPr wrap="square" lIns="0" tIns="0" rIns="0" bIns="0" rtlCol="0" anchor="ctr"/>
          <a:lstStyle/>
          <a:p>
            <a:pPr algn="l" indent="0" marL="0">
              <a:buNone/>
            </a:pPr>
            <a:r>
              <a:rPr lang="en-US" sz="800" dirty="0">
                <a:solidFill>
                  <a:srgbClr val="5C5050"/>
                </a:solidFill>
              </a:rPr>
              <a:t>Directs AI video creation from concept to final output — storylines, scene directions, and video prompts.</a:t>
            </a:r>
            <a:endParaRPr lang="en-US" sz="800" dirty="0"/>
          </a:p>
        </p:txBody>
      </p:sp>
      <p:sp>
        <p:nvSpPr>
          <p:cNvPr id="20" name="Shape 18"/>
          <p:cNvSpPr/>
          <p:nvPr/>
        </p:nvSpPr>
        <p:spPr>
          <a:xfrm>
            <a:off x="457200" y="2798064"/>
            <a:ext cx="73152" cy="502920"/>
          </a:xfrm>
          <a:prstGeom prst="rect">
            <a:avLst/>
          </a:prstGeom>
          <a:solidFill>
            <a:srgbClr val="C9A96E"/>
          </a:solidFill>
          <a:ln/>
        </p:spPr>
      </p:sp>
      <p:sp>
        <p:nvSpPr>
          <p:cNvPr id="21" name="Text 19"/>
          <p:cNvSpPr/>
          <p:nvPr/>
        </p:nvSpPr>
        <p:spPr>
          <a:xfrm>
            <a:off x="640080" y="2779776"/>
            <a:ext cx="3749040" cy="274320"/>
          </a:xfrm>
          <a:prstGeom prst="rect">
            <a:avLst/>
          </a:prstGeom>
          <a:noFill/>
          <a:ln/>
        </p:spPr>
        <p:txBody>
          <a:bodyPr wrap="square" lIns="0" tIns="0" rIns="0" bIns="0" rtlCol="0" anchor="ctr"/>
          <a:lstStyle/>
          <a:p>
            <a:pPr algn="l" indent="0" marL="0">
              <a:buNone/>
            </a:pPr>
            <a:r>
              <a:rPr lang="en-US" sz="900" b="1" dirty="0">
                <a:solidFill>
                  <a:srgbClr val="2C4A3E"/>
                </a:solidFill>
              </a:rPr>
              <a:t>AiMUSE Prompt Director Bot</a:t>
            </a:r>
            <a:endParaRPr lang="en-US" sz="900" dirty="0"/>
          </a:p>
        </p:txBody>
      </p:sp>
      <p:sp>
        <p:nvSpPr>
          <p:cNvPr id="22" name="Text 20"/>
          <p:cNvSpPr/>
          <p:nvPr/>
        </p:nvSpPr>
        <p:spPr>
          <a:xfrm>
            <a:off x="640080" y="3026664"/>
            <a:ext cx="3749040" cy="402336"/>
          </a:xfrm>
          <a:prstGeom prst="rect">
            <a:avLst/>
          </a:prstGeom>
          <a:noFill/>
          <a:ln/>
        </p:spPr>
        <p:txBody>
          <a:bodyPr wrap="square" lIns="0" tIns="0" rIns="0" bIns="0" rtlCol="0" anchor="ctr"/>
          <a:lstStyle/>
          <a:p>
            <a:pPr algn="l" indent="0" marL="0">
              <a:buNone/>
            </a:pPr>
            <a:r>
              <a:rPr lang="en-US" sz="800" dirty="0">
                <a:solidFill>
                  <a:srgbClr val="5C5050"/>
                </a:solidFill>
              </a:rPr>
              <a:t>Your personal prompt architect. Feed it your Muse's aesthetic and it builds custom image prompts.</a:t>
            </a:r>
            <a:endParaRPr lang="en-US" sz="800" dirty="0"/>
          </a:p>
        </p:txBody>
      </p:sp>
      <p:sp>
        <p:nvSpPr>
          <p:cNvPr id="23" name="Shape 21"/>
          <p:cNvSpPr/>
          <p:nvPr/>
        </p:nvSpPr>
        <p:spPr>
          <a:xfrm>
            <a:off x="457200" y="3474720"/>
            <a:ext cx="73152" cy="502920"/>
          </a:xfrm>
          <a:prstGeom prst="rect">
            <a:avLst/>
          </a:prstGeom>
          <a:solidFill>
            <a:srgbClr val="C9A96E"/>
          </a:solidFill>
          <a:ln/>
        </p:spPr>
      </p:sp>
      <p:sp>
        <p:nvSpPr>
          <p:cNvPr id="24" name="Text 22"/>
          <p:cNvSpPr/>
          <p:nvPr/>
        </p:nvSpPr>
        <p:spPr>
          <a:xfrm>
            <a:off x="640080" y="3456432"/>
            <a:ext cx="3749040" cy="274320"/>
          </a:xfrm>
          <a:prstGeom prst="rect">
            <a:avLst/>
          </a:prstGeom>
          <a:noFill/>
          <a:ln/>
        </p:spPr>
        <p:txBody>
          <a:bodyPr wrap="square" lIns="0" tIns="0" rIns="0" bIns="0" rtlCol="0" anchor="ctr"/>
          <a:lstStyle/>
          <a:p>
            <a:pPr algn="l" indent="0" marL="0">
              <a:buNone/>
            </a:pPr>
            <a:r>
              <a:rPr lang="en-US" sz="900" b="1" dirty="0">
                <a:solidFill>
                  <a:srgbClr val="2C4A3E"/>
                </a:solidFill>
              </a:rPr>
              <a:t>Soul 2.0 Luxury Influencer Architect</a:t>
            </a:r>
            <a:endParaRPr lang="en-US" sz="900" dirty="0"/>
          </a:p>
        </p:txBody>
      </p:sp>
      <p:sp>
        <p:nvSpPr>
          <p:cNvPr id="25" name="Text 23"/>
          <p:cNvSpPr/>
          <p:nvPr/>
        </p:nvSpPr>
        <p:spPr>
          <a:xfrm>
            <a:off x="640080" y="3703320"/>
            <a:ext cx="3749040" cy="402336"/>
          </a:xfrm>
          <a:prstGeom prst="rect">
            <a:avLst/>
          </a:prstGeom>
          <a:noFill/>
          <a:ln/>
        </p:spPr>
        <p:txBody>
          <a:bodyPr wrap="square" lIns="0" tIns="0" rIns="0" bIns="0" rtlCol="0" anchor="ctr"/>
          <a:lstStyle/>
          <a:p>
            <a:pPr algn="l" indent="0" marL="0">
              <a:buNone/>
            </a:pPr>
            <a:r>
              <a:rPr lang="en-US" sz="800" dirty="0">
                <a:solidFill>
                  <a:srgbClr val="5C5050"/>
                </a:solidFill>
              </a:rPr>
              <a:t>Specializes in high-end editorial luxury content for fashion, beauty and aspirational lifestyle.</a:t>
            </a:r>
            <a:endParaRPr lang="en-US" sz="800" dirty="0"/>
          </a:p>
        </p:txBody>
      </p:sp>
      <p:sp>
        <p:nvSpPr>
          <p:cNvPr id="26" name="Shape 24"/>
          <p:cNvSpPr/>
          <p:nvPr/>
        </p:nvSpPr>
        <p:spPr>
          <a:xfrm>
            <a:off x="457200" y="4151376"/>
            <a:ext cx="73152" cy="502920"/>
          </a:xfrm>
          <a:prstGeom prst="rect">
            <a:avLst/>
          </a:prstGeom>
          <a:solidFill>
            <a:srgbClr val="C9A96E"/>
          </a:solidFill>
          <a:ln/>
        </p:spPr>
      </p:sp>
      <p:sp>
        <p:nvSpPr>
          <p:cNvPr id="27" name="Text 25"/>
          <p:cNvSpPr/>
          <p:nvPr/>
        </p:nvSpPr>
        <p:spPr>
          <a:xfrm>
            <a:off x="640080" y="4133088"/>
            <a:ext cx="3749040" cy="274320"/>
          </a:xfrm>
          <a:prstGeom prst="rect">
            <a:avLst/>
          </a:prstGeom>
          <a:noFill/>
          <a:ln/>
        </p:spPr>
        <p:txBody>
          <a:bodyPr wrap="square" lIns="0" tIns="0" rIns="0" bIns="0" rtlCol="0" anchor="ctr"/>
          <a:lstStyle/>
          <a:p>
            <a:pPr algn="l" indent="0" marL="0">
              <a:buNone/>
            </a:pPr>
            <a:r>
              <a:rPr lang="en-US" sz="900" b="1" dirty="0">
                <a:solidFill>
                  <a:srgbClr val="2C4A3E"/>
                </a:solidFill>
              </a:rPr>
              <a:t>AiMUSE Seedance 2.0 Studio</a:t>
            </a:r>
            <a:endParaRPr lang="en-US" sz="900" dirty="0"/>
          </a:p>
        </p:txBody>
      </p:sp>
      <p:sp>
        <p:nvSpPr>
          <p:cNvPr id="28" name="Text 26"/>
          <p:cNvSpPr/>
          <p:nvPr/>
        </p:nvSpPr>
        <p:spPr>
          <a:xfrm>
            <a:off x="640080" y="4379976"/>
            <a:ext cx="3749040" cy="402336"/>
          </a:xfrm>
          <a:prstGeom prst="rect">
            <a:avLst/>
          </a:prstGeom>
          <a:noFill/>
          <a:ln/>
        </p:spPr>
        <p:txBody>
          <a:bodyPr wrap="square" lIns="0" tIns="0" rIns="0" bIns="0" rtlCol="0" anchor="ctr"/>
          <a:lstStyle/>
          <a:p>
            <a:pPr algn="l" indent="0" marL="0">
              <a:buNone/>
            </a:pPr>
            <a:r>
              <a:rPr lang="en-US" sz="800" dirty="0">
                <a:solidFill>
                  <a:srgbClr val="5C5050"/>
                </a:solidFill>
              </a:rPr>
              <a:t>The motion specialist — turns your Muse into moving content with structured animation prompts.</a:t>
            </a:r>
            <a:endParaRPr lang="en-US" sz="800" dirty="0"/>
          </a:p>
        </p:txBody>
      </p:sp>
      <p:sp>
        <p:nvSpPr>
          <p:cNvPr id="29" name="Text 27"/>
          <p:cNvSpPr/>
          <p:nvPr/>
        </p:nvSpPr>
        <p:spPr>
          <a:xfrm>
            <a:off x="4754880" y="1700784"/>
            <a:ext cx="4023360" cy="347472"/>
          </a:xfrm>
          <a:prstGeom prst="rect">
            <a:avLst/>
          </a:prstGeom>
          <a:noFill/>
          <a:ln/>
        </p:spPr>
        <p:txBody>
          <a:bodyPr wrap="square" lIns="0" tIns="0" rIns="0" bIns="0" rtlCol="0" anchor="ctr"/>
          <a:lstStyle/>
          <a:p>
            <a:pPr algn="l" indent="0" marL="0">
              <a:buNone/>
            </a:pPr>
            <a:r>
              <a:rPr lang="en-US" sz="1300" b="1" dirty="0">
                <a:solidFill>
                  <a:srgbClr val="2C4A3E"/>
                </a:solidFill>
              </a:rPr>
              <a:t>The 9 Creation Modules</a:t>
            </a:r>
            <a:endParaRPr lang="en-US" sz="1300" dirty="0"/>
          </a:p>
        </p:txBody>
      </p:sp>
      <p:sp>
        <p:nvSpPr>
          <p:cNvPr id="30" name="Shape 28"/>
          <p:cNvSpPr/>
          <p:nvPr/>
        </p:nvSpPr>
        <p:spPr>
          <a:xfrm>
            <a:off x="4754880" y="2148840"/>
            <a:ext cx="91440" cy="91440"/>
          </a:xfrm>
          <a:prstGeom prst="ellipse">
            <a:avLst/>
          </a:prstGeom>
          <a:solidFill>
            <a:srgbClr val="EACDC0"/>
          </a:solidFill>
          <a:ln/>
        </p:spPr>
      </p:sp>
      <p:sp>
        <p:nvSpPr>
          <p:cNvPr id="31" name="Text 29"/>
          <p:cNvSpPr/>
          <p:nvPr/>
        </p:nvSpPr>
        <p:spPr>
          <a:xfrm>
            <a:off x="4919472" y="2103120"/>
            <a:ext cx="3840480" cy="274320"/>
          </a:xfrm>
          <a:prstGeom prst="rect">
            <a:avLst/>
          </a:prstGeom>
          <a:noFill/>
          <a:ln/>
        </p:spPr>
        <p:txBody>
          <a:bodyPr wrap="square" lIns="0" tIns="0" rIns="0" bIns="0" rtlCol="0" anchor="ctr"/>
          <a:lstStyle/>
          <a:p>
            <a:pPr indent="0" marL="0">
              <a:buNone/>
            </a:pPr>
            <a:r>
              <a:rPr lang="en-US" sz="820" dirty="0">
                <a:solidFill>
                  <a:srgbClr val="2C2C2C"/>
                </a:solidFill>
              </a:rPr>
              <a:t>Create Your Muse — Build your AI persona from scratch</a:t>
            </a:r>
            <a:endParaRPr lang="en-US" sz="820" dirty="0"/>
          </a:p>
        </p:txBody>
      </p:sp>
      <p:sp>
        <p:nvSpPr>
          <p:cNvPr id="32" name="Shape 30"/>
          <p:cNvSpPr/>
          <p:nvPr/>
        </p:nvSpPr>
        <p:spPr>
          <a:xfrm>
            <a:off x="4754880" y="2441448"/>
            <a:ext cx="91440" cy="91440"/>
          </a:xfrm>
          <a:prstGeom prst="ellipse">
            <a:avLst/>
          </a:prstGeom>
          <a:solidFill>
            <a:srgbClr val="EACDC0"/>
          </a:solidFill>
          <a:ln/>
        </p:spPr>
      </p:sp>
      <p:sp>
        <p:nvSpPr>
          <p:cNvPr id="33" name="Text 31"/>
          <p:cNvSpPr/>
          <p:nvPr/>
        </p:nvSpPr>
        <p:spPr>
          <a:xfrm>
            <a:off x="4919472" y="2395728"/>
            <a:ext cx="3840480" cy="274320"/>
          </a:xfrm>
          <a:prstGeom prst="rect">
            <a:avLst/>
          </a:prstGeom>
          <a:noFill/>
          <a:ln/>
        </p:spPr>
        <p:txBody>
          <a:bodyPr wrap="square" lIns="0" tIns="0" rIns="0" bIns="0" rtlCol="0" anchor="ctr"/>
          <a:lstStyle/>
          <a:p>
            <a:pPr indent="0" marL="0">
              <a:buNone/>
            </a:pPr>
            <a:r>
              <a:rPr lang="en-US" sz="820" dirty="0">
                <a:solidFill>
                  <a:srgbClr val="2C2C2C"/>
                </a:solidFill>
              </a:rPr>
              <a:t>Storytelling Mastery &amp; Brand DNA — Your identity system</a:t>
            </a:r>
            <a:endParaRPr lang="en-US" sz="820" dirty="0"/>
          </a:p>
        </p:txBody>
      </p:sp>
      <p:sp>
        <p:nvSpPr>
          <p:cNvPr id="34" name="Shape 32"/>
          <p:cNvSpPr/>
          <p:nvPr/>
        </p:nvSpPr>
        <p:spPr>
          <a:xfrm>
            <a:off x="4754880" y="2734056"/>
            <a:ext cx="91440" cy="91440"/>
          </a:xfrm>
          <a:prstGeom prst="ellipse">
            <a:avLst/>
          </a:prstGeom>
          <a:solidFill>
            <a:srgbClr val="EACDC0"/>
          </a:solidFill>
          <a:ln/>
        </p:spPr>
      </p:sp>
      <p:sp>
        <p:nvSpPr>
          <p:cNvPr id="35" name="Text 33"/>
          <p:cNvSpPr/>
          <p:nvPr/>
        </p:nvSpPr>
        <p:spPr>
          <a:xfrm>
            <a:off x="4919472" y="2688336"/>
            <a:ext cx="3840480" cy="274320"/>
          </a:xfrm>
          <a:prstGeom prst="rect">
            <a:avLst/>
          </a:prstGeom>
          <a:noFill/>
          <a:ln/>
        </p:spPr>
        <p:txBody>
          <a:bodyPr wrap="square" lIns="0" tIns="0" rIns="0" bIns="0" rtlCol="0" anchor="ctr"/>
          <a:lstStyle/>
          <a:p>
            <a:pPr indent="0" marL="0">
              <a:buNone/>
            </a:pPr>
            <a:r>
              <a:rPr lang="en-US" sz="820" dirty="0">
                <a:solidFill>
                  <a:srgbClr val="2C2C2C"/>
                </a:solidFill>
              </a:rPr>
              <a:t>AI Fashion Hauls &amp; Try-Ons — Without a wardrobe</a:t>
            </a:r>
            <a:endParaRPr lang="en-US" sz="820" dirty="0"/>
          </a:p>
        </p:txBody>
      </p:sp>
      <p:sp>
        <p:nvSpPr>
          <p:cNvPr id="36" name="Shape 34"/>
          <p:cNvSpPr/>
          <p:nvPr/>
        </p:nvSpPr>
        <p:spPr>
          <a:xfrm>
            <a:off x="4754880" y="3026664"/>
            <a:ext cx="91440" cy="91440"/>
          </a:xfrm>
          <a:prstGeom prst="ellipse">
            <a:avLst/>
          </a:prstGeom>
          <a:solidFill>
            <a:srgbClr val="EACDC0"/>
          </a:solidFill>
          <a:ln/>
        </p:spPr>
      </p:sp>
      <p:sp>
        <p:nvSpPr>
          <p:cNvPr id="37" name="Text 35"/>
          <p:cNvSpPr/>
          <p:nvPr/>
        </p:nvSpPr>
        <p:spPr>
          <a:xfrm>
            <a:off x="4919472" y="2980944"/>
            <a:ext cx="3840480" cy="274320"/>
          </a:xfrm>
          <a:prstGeom prst="rect">
            <a:avLst/>
          </a:prstGeom>
          <a:noFill/>
          <a:ln/>
        </p:spPr>
        <p:txBody>
          <a:bodyPr wrap="square" lIns="0" tIns="0" rIns="0" bIns="0" rtlCol="0" anchor="ctr"/>
          <a:lstStyle/>
          <a:p>
            <a:pPr indent="0" marL="0">
              <a:buNone/>
            </a:pPr>
            <a:r>
              <a:rPr lang="en-US" sz="820" dirty="0">
                <a:solidFill>
                  <a:srgbClr val="2C2C2C"/>
                </a:solidFill>
              </a:rPr>
              <a:t>Visual Hooks to Stop the Scroll — Every platform</a:t>
            </a:r>
            <a:endParaRPr lang="en-US" sz="820" dirty="0"/>
          </a:p>
        </p:txBody>
      </p:sp>
      <p:sp>
        <p:nvSpPr>
          <p:cNvPr id="38" name="Shape 36"/>
          <p:cNvSpPr/>
          <p:nvPr/>
        </p:nvSpPr>
        <p:spPr>
          <a:xfrm>
            <a:off x="4754880" y="3319272"/>
            <a:ext cx="91440" cy="91440"/>
          </a:xfrm>
          <a:prstGeom prst="ellipse">
            <a:avLst/>
          </a:prstGeom>
          <a:solidFill>
            <a:srgbClr val="7AB5B0"/>
          </a:solidFill>
          <a:ln/>
        </p:spPr>
      </p:sp>
      <p:sp>
        <p:nvSpPr>
          <p:cNvPr id="39" name="Text 37"/>
          <p:cNvSpPr/>
          <p:nvPr/>
        </p:nvSpPr>
        <p:spPr>
          <a:xfrm>
            <a:off x="4919472" y="3273552"/>
            <a:ext cx="3840480" cy="274320"/>
          </a:xfrm>
          <a:prstGeom prst="rect">
            <a:avLst/>
          </a:prstGeom>
          <a:noFill/>
          <a:ln/>
        </p:spPr>
        <p:txBody>
          <a:bodyPr wrap="square" lIns="0" tIns="0" rIns="0" bIns="0" rtlCol="0" anchor="ctr"/>
          <a:lstStyle/>
          <a:p>
            <a:pPr indent="0" marL="0">
              <a:buNone/>
            </a:pPr>
            <a:r>
              <a:rPr lang="en-US" sz="820" dirty="0">
                <a:solidFill>
                  <a:srgbClr val="2C2C2C"/>
                </a:solidFill>
              </a:rPr>
              <a:t>AI Video Podcasting — From script to screen with AI</a:t>
            </a:r>
            <a:endParaRPr lang="en-US" sz="820" dirty="0"/>
          </a:p>
        </p:txBody>
      </p:sp>
      <p:sp>
        <p:nvSpPr>
          <p:cNvPr id="40" name="Shape 38"/>
          <p:cNvSpPr/>
          <p:nvPr/>
        </p:nvSpPr>
        <p:spPr>
          <a:xfrm>
            <a:off x="4754880" y="3611880"/>
            <a:ext cx="91440" cy="91440"/>
          </a:xfrm>
          <a:prstGeom prst="ellipse">
            <a:avLst/>
          </a:prstGeom>
          <a:solidFill>
            <a:srgbClr val="7AB5B0"/>
          </a:solidFill>
          <a:ln/>
        </p:spPr>
      </p:sp>
      <p:sp>
        <p:nvSpPr>
          <p:cNvPr id="41" name="Text 39"/>
          <p:cNvSpPr/>
          <p:nvPr/>
        </p:nvSpPr>
        <p:spPr>
          <a:xfrm>
            <a:off x="4919472" y="3566160"/>
            <a:ext cx="3840480" cy="274320"/>
          </a:xfrm>
          <a:prstGeom prst="rect">
            <a:avLst/>
          </a:prstGeom>
          <a:noFill/>
          <a:ln/>
        </p:spPr>
        <p:txBody>
          <a:bodyPr wrap="square" lIns="0" tIns="0" rIns="0" bIns="0" rtlCol="0" anchor="ctr"/>
          <a:lstStyle/>
          <a:p>
            <a:pPr indent="0" marL="0">
              <a:buNone/>
            </a:pPr>
            <a:r>
              <a:rPr lang="en-US" sz="820" dirty="0">
                <a:solidFill>
                  <a:srgbClr val="2C2C2C"/>
                </a:solidFill>
              </a:rPr>
              <a:t>UGC &amp; Branded Product Visuals — High-converting content</a:t>
            </a:r>
            <a:endParaRPr lang="en-US" sz="820" dirty="0"/>
          </a:p>
        </p:txBody>
      </p:sp>
      <p:sp>
        <p:nvSpPr>
          <p:cNvPr id="42" name="Shape 40"/>
          <p:cNvSpPr/>
          <p:nvPr/>
        </p:nvSpPr>
        <p:spPr>
          <a:xfrm>
            <a:off x="4754880" y="3904488"/>
            <a:ext cx="91440" cy="91440"/>
          </a:xfrm>
          <a:prstGeom prst="ellipse">
            <a:avLst/>
          </a:prstGeom>
          <a:solidFill>
            <a:srgbClr val="7AB5B0"/>
          </a:solidFill>
          <a:ln/>
        </p:spPr>
      </p:sp>
      <p:sp>
        <p:nvSpPr>
          <p:cNvPr id="43" name="Text 41"/>
          <p:cNvSpPr/>
          <p:nvPr/>
        </p:nvSpPr>
        <p:spPr>
          <a:xfrm>
            <a:off x="4919472" y="3858768"/>
            <a:ext cx="3840480" cy="274320"/>
          </a:xfrm>
          <a:prstGeom prst="rect">
            <a:avLst/>
          </a:prstGeom>
          <a:noFill/>
          <a:ln/>
        </p:spPr>
        <p:txBody>
          <a:bodyPr wrap="square" lIns="0" tIns="0" rIns="0" bIns="0" rtlCol="0" anchor="ctr"/>
          <a:lstStyle/>
          <a:p>
            <a:pPr indent="0" marL="0">
              <a:buNone/>
            </a:pPr>
            <a:r>
              <a:rPr lang="en-US" sz="820" dirty="0">
                <a:solidFill>
                  <a:srgbClr val="2C2C2C"/>
                </a:solidFill>
              </a:rPr>
              <a:t>Viral Trends &amp; Dance Workflows — Trend-based systems</a:t>
            </a:r>
            <a:endParaRPr lang="en-US" sz="820" dirty="0"/>
          </a:p>
        </p:txBody>
      </p:sp>
      <p:sp>
        <p:nvSpPr>
          <p:cNvPr id="44" name="Shape 42"/>
          <p:cNvSpPr/>
          <p:nvPr/>
        </p:nvSpPr>
        <p:spPr>
          <a:xfrm>
            <a:off x="4754880" y="4197096"/>
            <a:ext cx="91440" cy="91440"/>
          </a:xfrm>
          <a:prstGeom prst="ellipse">
            <a:avLst/>
          </a:prstGeom>
          <a:solidFill>
            <a:srgbClr val="7AB5B0"/>
          </a:solidFill>
          <a:ln/>
        </p:spPr>
      </p:sp>
      <p:sp>
        <p:nvSpPr>
          <p:cNvPr id="45" name="Text 43"/>
          <p:cNvSpPr/>
          <p:nvPr/>
        </p:nvSpPr>
        <p:spPr>
          <a:xfrm>
            <a:off x="4919472" y="4151376"/>
            <a:ext cx="3840480" cy="274320"/>
          </a:xfrm>
          <a:prstGeom prst="rect">
            <a:avLst/>
          </a:prstGeom>
          <a:noFill/>
          <a:ln/>
        </p:spPr>
        <p:txBody>
          <a:bodyPr wrap="square" lIns="0" tIns="0" rIns="0" bIns="0" rtlCol="0" anchor="ctr"/>
          <a:lstStyle/>
          <a:p>
            <a:pPr indent="0" marL="0">
              <a:buNone/>
            </a:pPr>
            <a:r>
              <a:rPr lang="en-US" sz="820" dirty="0">
                <a:solidFill>
                  <a:srgbClr val="2C2C2C"/>
                </a:solidFill>
              </a:rPr>
              <a:t>AI Music — Original audio branding for your content</a:t>
            </a:r>
            <a:endParaRPr lang="en-US" sz="820" dirty="0"/>
          </a:p>
        </p:txBody>
      </p:sp>
      <p:sp>
        <p:nvSpPr>
          <p:cNvPr id="46" name="Shape 44"/>
          <p:cNvSpPr/>
          <p:nvPr/>
        </p:nvSpPr>
        <p:spPr>
          <a:xfrm>
            <a:off x="4754880" y="4489704"/>
            <a:ext cx="91440" cy="91440"/>
          </a:xfrm>
          <a:prstGeom prst="ellipse">
            <a:avLst/>
          </a:prstGeom>
          <a:solidFill>
            <a:srgbClr val="7AB5B0"/>
          </a:solidFill>
          <a:ln/>
        </p:spPr>
      </p:sp>
      <p:sp>
        <p:nvSpPr>
          <p:cNvPr id="47" name="Text 45"/>
          <p:cNvSpPr/>
          <p:nvPr/>
        </p:nvSpPr>
        <p:spPr>
          <a:xfrm>
            <a:off x="4919472" y="4443984"/>
            <a:ext cx="3840480" cy="274320"/>
          </a:xfrm>
          <a:prstGeom prst="rect">
            <a:avLst/>
          </a:prstGeom>
          <a:noFill/>
          <a:ln/>
        </p:spPr>
        <p:txBody>
          <a:bodyPr wrap="square" lIns="0" tIns="0" rIns="0" bIns="0" rtlCol="0" anchor="ctr"/>
          <a:lstStyle/>
          <a:p>
            <a:pPr indent="0" marL="0">
              <a:buNone/>
            </a:pPr>
            <a:r>
              <a:rPr lang="en-US" sz="820" dirty="0">
                <a:solidFill>
                  <a:srgbClr val="2C2C2C"/>
                </a:solidFill>
              </a:rPr>
              <a:t>CapCut Editing Tutorials — Polish AI content into pieces</a:t>
            </a:r>
            <a:endParaRPr lang="en-US" sz="820" dirty="0"/>
          </a:p>
        </p:txBody>
      </p:sp>
      <p:sp>
        <p:nvSpPr>
          <p:cNvPr id="48" name="Shape 46"/>
          <p:cNvSpPr/>
          <p:nvPr/>
        </p:nvSpPr>
        <p:spPr>
          <a:xfrm>
            <a:off x="0" y="4759452"/>
            <a:ext cx="9144000" cy="384048"/>
          </a:xfrm>
          <a:prstGeom prst="rect">
            <a:avLst/>
          </a:prstGeom>
          <a:solidFill>
            <a:srgbClr val="F5EFE8"/>
          </a:solidFill>
          <a:ln/>
        </p:spPr>
      </p:sp>
      <p:sp>
        <p:nvSpPr>
          <p:cNvPr id="49" name="Text 47"/>
          <p:cNvSpPr/>
          <p:nvPr/>
        </p:nvSpPr>
        <p:spPr>
          <a:xfrm>
            <a:off x="457200" y="4759452"/>
            <a:ext cx="8229600" cy="384048"/>
          </a:xfrm>
          <a:prstGeom prst="rect">
            <a:avLst/>
          </a:prstGeom>
          <a:noFill/>
          <a:ln/>
        </p:spPr>
        <p:txBody>
          <a:bodyPr wrap="square" lIns="0" tIns="0" rIns="0" bIns="0" rtlCol="0" anchor="ctr"/>
          <a:lstStyle/>
          <a:p>
            <a:pPr algn="ctr" indent="0" marL="0">
              <a:buNone/>
            </a:pPr>
            <a:r>
              <a:rPr lang="en-US" sz="750" i="1" dirty="0">
                <a:solidFill>
                  <a:srgbClr val="9B8577"/>
                </a:solidFill>
              </a:rPr>
              <a:t>Boss Era™ × AiMUSE Alchemy™  ·  bossfacelessmentor.com</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F2"/>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4A3E"/>
          </a:solidFill>
          <a:ln/>
        </p:spPr>
      </p:sp>
      <p:sp>
        <p:nvSpPr>
          <p:cNvPr id="3" name="Text 1"/>
          <p:cNvSpPr/>
          <p:nvPr/>
        </p:nvSpPr>
        <p:spPr>
          <a:xfrm>
            <a:off x="457200" y="0"/>
            <a:ext cx="8229600" cy="640080"/>
          </a:xfrm>
          <a:prstGeom prst="rect">
            <a:avLst/>
          </a:prstGeom>
          <a:noFill/>
          <a:ln/>
        </p:spPr>
        <p:txBody>
          <a:bodyPr wrap="square" lIns="0" tIns="0" rIns="0" bIns="0" rtlCol="0" anchor="ctr"/>
          <a:lstStyle/>
          <a:p>
            <a:pPr algn="ctr" indent="0" marL="0">
              <a:buNone/>
            </a:pPr>
            <a:r>
              <a:rPr lang="en-US" sz="800" b="1" spc="300" kern="0" dirty="0">
                <a:solidFill>
                  <a:srgbClr val="C9A96E"/>
                </a:solidFill>
              </a:rPr>
              <a:t>CLAUDE AI × HIGGSFIELD MCP · WORKFLOW GUIDE</a:t>
            </a:r>
            <a:endParaRPr lang="en-US" sz="800" dirty="0"/>
          </a:p>
        </p:txBody>
      </p:sp>
      <p:sp>
        <p:nvSpPr>
          <p:cNvPr id="4" name="Text 2"/>
          <p:cNvSpPr/>
          <p:nvPr/>
        </p:nvSpPr>
        <p:spPr>
          <a:xfrm>
            <a:off x="457200" y="749808"/>
            <a:ext cx="8229600" cy="502920"/>
          </a:xfrm>
          <a:prstGeom prst="rect">
            <a:avLst/>
          </a:prstGeom>
          <a:noFill/>
          <a:ln/>
        </p:spPr>
        <p:txBody>
          <a:bodyPr wrap="square" lIns="0" tIns="0" rIns="0" bIns="0" rtlCol="0" anchor="ctr"/>
          <a:lstStyle/>
          <a:p>
            <a:pPr algn="l" indent="0" marL="0">
              <a:buNone/>
            </a:pPr>
            <a:r>
              <a:rPr lang="en-US" sz="1900" b="1" dirty="0">
                <a:solidFill>
                  <a:srgbClr val="2C4A3E"/>
                </a:solidFill>
              </a:rPr>
              <a:t>Using Claude + Higgsfield MCP for AI Content Workflows</a:t>
            </a:r>
            <a:endParaRPr lang="en-US" sz="1900" dirty="0"/>
          </a:p>
        </p:txBody>
      </p:sp>
      <p:sp>
        <p:nvSpPr>
          <p:cNvPr id="5" name="Shape 3"/>
          <p:cNvSpPr/>
          <p:nvPr/>
        </p:nvSpPr>
        <p:spPr>
          <a:xfrm>
            <a:off x="457200" y="1353312"/>
            <a:ext cx="2606040" cy="731520"/>
          </a:xfrm>
          <a:prstGeom prst="rect">
            <a:avLst/>
          </a:prstGeom>
          <a:solidFill>
            <a:srgbClr val="2C4A3E"/>
          </a:solidFill>
          <a:ln/>
        </p:spPr>
      </p:sp>
      <p:sp>
        <p:nvSpPr>
          <p:cNvPr id="6" name="Text 4"/>
          <p:cNvSpPr/>
          <p:nvPr/>
        </p:nvSpPr>
        <p:spPr>
          <a:xfrm>
            <a:off x="548640" y="1371600"/>
            <a:ext cx="2423160" cy="320040"/>
          </a:xfrm>
          <a:prstGeom prst="rect">
            <a:avLst/>
          </a:prstGeom>
          <a:noFill/>
          <a:ln/>
        </p:spPr>
        <p:txBody>
          <a:bodyPr wrap="square" lIns="0" tIns="0" rIns="0" bIns="0" rtlCol="0" anchor="ctr"/>
          <a:lstStyle/>
          <a:p>
            <a:pPr algn="l" indent="0" marL="0">
              <a:buNone/>
            </a:pPr>
            <a:r>
              <a:rPr lang="en-US" sz="950" b="1" dirty="0">
                <a:solidFill>
                  <a:srgbClr val="C9A96E"/>
                </a:solidFill>
              </a:rPr>
              <a:t>Claude = Creative Director</a:t>
            </a:r>
            <a:endParaRPr lang="en-US" sz="950" dirty="0"/>
          </a:p>
        </p:txBody>
      </p:sp>
      <p:sp>
        <p:nvSpPr>
          <p:cNvPr id="7" name="Text 5"/>
          <p:cNvSpPr/>
          <p:nvPr/>
        </p:nvSpPr>
        <p:spPr>
          <a:xfrm>
            <a:off x="548640" y="1673352"/>
            <a:ext cx="2423160" cy="347472"/>
          </a:xfrm>
          <a:prstGeom prst="rect">
            <a:avLst/>
          </a:prstGeom>
          <a:noFill/>
          <a:ln/>
        </p:spPr>
        <p:txBody>
          <a:bodyPr wrap="square" lIns="0" tIns="0" rIns="0" bIns="0" rtlCol="0" anchor="ctr"/>
          <a:lstStyle/>
          <a:p>
            <a:pPr algn="l" indent="0" marL="0">
              <a:buNone/>
            </a:pPr>
            <a:r>
              <a:rPr lang="en-US" sz="820" dirty="0">
                <a:solidFill>
                  <a:srgbClr val="F5EFE8"/>
                </a:solidFill>
              </a:rPr>
              <a:t>Describe what you want — it structures the full workflow for you.</a:t>
            </a:r>
            <a:endParaRPr lang="en-US" sz="820" dirty="0"/>
          </a:p>
        </p:txBody>
      </p:sp>
      <p:sp>
        <p:nvSpPr>
          <p:cNvPr id="8" name="Shape 6"/>
          <p:cNvSpPr/>
          <p:nvPr/>
        </p:nvSpPr>
        <p:spPr>
          <a:xfrm>
            <a:off x="3337560" y="1353312"/>
            <a:ext cx="2606040" cy="731520"/>
          </a:xfrm>
          <a:prstGeom prst="rect">
            <a:avLst/>
          </a:prstGeom>
          <a:solidFill>
            <a:srgbClr val="EACDC0"/>
          </a:solidFill>
          <a:ln/>
        </p:spPr>
      </p:sp>
      <p:sp>
        <p:nvSpPr>
          <p:cNvPr id="9" name="Text 7"/>
          <p:cNvSpPr/>
          <p:nvPr/>
        </p:nvSpPr>
        <p:spPr>
          <a:xfrm>
            <a:off x="3429000" y="1371600"/>
            <a:ext cx="2423160" cy="320040"/>
          </a:xfrm>
          <a:prstGeom prst="rect">
            <a:avLst/>
          </a:prstGeom>
          <a:noFill/>
          <a:ln/>
        </p:spPr>
        <p:txBody>
          <a:bodyPr wrap="square" lIns="0" tIns="0" rIns="0" bIns="0" rtlCol="0" anchor="ctr"/>
          <a:lstStyle/>
          <a:p>
            <a:pPr algn="l" indent="0" marL="0">
              <a:buNone/>
            </a:pPr>
            <a:r>
              <a:rPr lang="en-US" sz="950" b="1" dirty="0">
                <a:solidFill>
                  <a:srgbClr val="2C4A3E"/>
                </a:solidFill>
              </a:rPr>
              <a:t>Higgsfield = Video Engine</a:t>
            </a:r>
            <a:endParaRPr lang="en-US" sz="950" dirty="0"/>
          </a:p>
        </p:txBody>
      </p:sp>
      <p:sp>
        <p:nvSpPr>
          <p:cNvPr id="10" name="Text 8"/>
          <p:cNvSpPr/>
          <p:nvPr/>
        </p:nvSpPr>
        <p:spPr>
          <a:xfrm>
            <a:off x="3429000" y="1673352"/>
            <a:ext cx="2423160" cy="347472"/>
          </a:xfrm>
          <a:prstGeom prst="rect">
            <a:avLst/>
          </a:prstGeom>
          <a:noFill/>
          <a:ln/>
        </p:spPr>
        <p:txBody>
          <a:bodyPr wrap="square" lIns="0" tIns="0" rIns="0" bIns="0" rtlCol="0" anchor="ctr"/>
          <a:lstStyle/>
          <a:p>
            <a:pPr algn="l" indent="0" marL="0">
              <a:buNone/>
            </a:pPr>
            <a:r>
              <a:rPr lang="en-US" sz="820" dirty="0">
                <a:solidFill>
                  <a:srgbClr val="2C4A3E"/>
                </a:solidFill>
              </a:rPr>
              <a:t>Handles motion, animation, and cinematic sequences at scale.</a:t>
            </a:r>
            <a:endParaRPr lang="en-US" sz="820" dirty="0"/>
          </a:p>
        </p:txBody>
      </p:sp>
      <p:sp>
        <p:nvSpPr>
          <p:cNvPr id="11" name="Shape 9"/>
          <p:cNvSpPr/>
          <p:nvPr/>
        </p:nvSpPr>
        <p:spPr>
          <a:xfrm>
            <a:off x="6217920" y="1353312"/>
            <a:ext cx="2606040" cy="731520"/>
          </a:xfrm>
          <a:prstGeom prst="rect">
            <a:avLst/>
          </a:prstGeom>
          <a:solidFill>
            <a:srgbClr val="7AB5B0"/>
          </a:solidFill>
          <a:ln/>
        </p:spPr>
      </p:sp>
      <p:sp>
        <p:nvSpPr>
          <p:cNvPr id="12" name="Text 10"/>
          <p:cNvSpPr/>
          <p:nvPr/>
        </p:nvSpPr>
        <p:spPr>
          <a:xfrm>
            <a:off x="6309360" y="1371600"/>
            <a:ext cx="2423160" cy="320040"/>
          </a:xfrm>
          <a:prstGeom prst="rect">
            <a:avLst/>
          </a:prstGeom>
          <a:noFill/>
          <a:ln/>
        </p:spPr>
        <p:txBody>
          <a:bodyPr wrap="square" lIns="0" tIns="0" rIns="0" bIns="0" rtlCol="0" anchor="ctr"/>
          <a:lstStyle/>
          <a:p>
            <a:pPr algn="l" indent="0" marL="0">
              <a:buNone/>
            </a:pPr>
            <a:r>
              <a:rPr lang="en-US" sz="950" b="1" dirty="0">
                <a:solidFill>
                  <a:srgbClr val="2C4A3E"/>
                </a:solidFill>
              </a:rPr>
              <a:t>Guided Pipeline</a:t>
            </a:r>
            <a:endParaRPr lang="en-US" sz="950" dirty="0"/>
          </a:p>
        </p:txBody>
      </p:sp>
      <p:sp>
        <p:nvSpPr>
          <p:cNvPr id="13" name="Text 11"/>
          <p:cNvSpPr/>
          <p:nvPr/>
        </p:nvSpPr>
        <p:spPr>
          <a:xfrm>
            <a:off x="6309360" y="1673352"/>
            <a:ext cx="2423160" cy="347472"/>
          </a:xfrm>
          <a:prstGeom prst="rect">
            <a:avLst/>
          </a:prstGeom>
          <a:noFill/>
          <a:ln/>
        </p:spPr>
        <p:txBody>
          <a:bodyPr wrap="square" lIns="0" tIns="0" rIns="0" bIns="0" rtlCol="0" anchor="ctr"/>
          <a:lstStyle/>
          <a:p>
            <a:pPr algn="l" indent="0" marL="0">
              <a:buNone/>
            </a:pPr>
            <a:r>
              <a:rPr lang="en-US" sz="820" dirty="0">
                <a:solidFill>
                  <a:srgbClr val="2C4A3E"/>
                </a:solidFill>
              </a:rPr>
              <a:t>Concept → video prompt → final output. Dramatically speeds up creation.</a:t>
            </a:r>
            <a:endParaRPr lang="en-US" sz="820" dirty="0"/>
          </a:p>
        </p:txBody>
      </p:sp>
      <p:sp>
        <p:nvSpPr>
          <p:cNvPr id="14" name="Text 12"/>
          <p:cNvSpPr/>
          <p:nvPr/>
        </p:nvSpPr>
        <p:spPr>
          <a:xfrm>
            <a:off x="457200" y="2212848"/>
            <a:ext cx="8229600" cy="347472"/>
          </a:xfrm>
          <a:prstGeom prst="rect">
            <a:avLst/>
          </a:prstGeom>
          <a:noFill/>
          <a:ln/>
        </p:spPr>
        <p:txBody>
          <a:bodyPr wrap="square" lIns="0" tIns="0" rIns="0" bIns="0" rtlCol="0" anchor="ctr"/>
          <a:lstStyle/>
          <a:p>
            <a:pPr algn="l" indent="0" marL="0">
              <a:buNone/>
            </a:pPr>
            <a:r>
              <a:rPr lang="en-US" sz="1200" b="1" dirty="0">
                <a:solidFill>
                  <a:srgbClr val="2C4A3E"/>
                </a:solidFill>
              </a:rPr>
              <a:t>Example Workflow: Muse Video Content</a:t>
            </a:r>
            <a:endParaRPr lang="en-US" sz="1200" dirty="0"/>
          </a:p>
        </p:txBody>
      </p:sp>
      <p:sp>
        <p:nvSpPr>
          <p:cNvPr id="15" name="Shape 13"/>
          <p:cNvSpPr/>
          <p:nvPr/>
        </p:nvSpPr>
        <p:spPr>
          <a:xfrm>
            <a:off x="457200" y="2670048"/>
            <a:ext cx="36576" cy="457200"/>
          </a:xfrm>
          <a:prstGeom prst="rect">
            <a:avLst/>
          </a:prstGeom>
          <a:solidFill>
            <a:srgbClr val="C9A96E"/>
          </a:solidFill>
          <a:ln/>
        </p:spPr>
      </p:sp>
      <p:sp>
        <p:nvSpPr>
          <p:cNvPr id="16" name="Text 14"/>
          <p:cNvSpPr/>
          <p:nvPr/>
        </p:nvSpPr>
        <p:spPr>
          <a:xfrm>
            <a:off x="585216" y="2688336"/>
            <a:ext cx="4023360" cy="219456"/>
          </a:xfrm>
          <a:prstGeom prst="rect">
            <a:avLst/>
          </a:prstGeom>
          <a:noFill/>
          <a:ln/>
        </p:spPr>
        <p:txBody>
          <a:bodyPr wrap="square" lIns="0" tIns="0" rIns="0" bIns="0" rtlCol="0" anchor="ctr"/>
          <a:lstStyle/>
          <a:p>
            <a:pPr indent="0" marL="0">
              <a:buNone/>
            </a:pPr>
            <a:r>
              <a:rPr lang="en-US" sz="900" b="1" dirty="0">
                <a:solidFill>
                  <a:srgbClr val="2C4A3E"/>
                </a:solidFill>
              </a:rPr>
              <a:t>01  Brief Claude</a:t>
            </a:r>
            <a:endParaRPr lang="en-US" sz="900" dirty="0"/>
          </a:p>
        </p:txBody>
      </p:sp>
      <p:sp>
        <p:nvSpPr>
          <p:cNvPr id="17" name="Text 15"/>
          <p:cNvSpPr/>
          <p:nvPr/>
        </p:nvSpPr>
        <p:spPr>
          <a:xfrm>
            <a:off x="585216" y="2889504"/>
            <a:ext cx="4023360" cy="219456"/>
          </a:xfrm>
          <a:prstGeom prst="rect">
            <a:avLst/>
          </a:prstGeom>
          <a:noFill/>
          <a:ln/>
        </p:spPr>
        <p:txBody>
          <a:bodyPr wrap="square" lIns="0" tIns="0" rIns="0" bIns="0" rtlCol="0" anchor="ctr"/>
          <a:lstStyle/>
          <a:p>
            <a:pPr indent="0" marL="0">
              <a:buNone/>
            </a:pPr>
            <a:r>
              <a:rPr lang="en-US" sz="800" dirty="0">
                <a:solidFill>
                  <a:srgbClr val="5C5050"/>
                </a:solidFill>
              </a:rPr>
              <a:t>Describe your Muse: aesthetic, setting, lighting, mood, and what action you want in the video.</a:t>
            </a:r>
            <a:endParaRPr lang="en-US" sz="800" dirty="0"/>
          </a:p>
        </p:txBody>
      </p:sp>
      <p:sp>
        <p:nvSpPr>
          <p:cNvPr id="18" name="Shape 16"/>
          <p:cNvSpPr/>
          <p:nvPr/>
        </p:nvSpPr>
        <p:spPr>
          <a:xfrm>
            <a:off x="457200" y="3218688"/>
            <a:ext cx="36576" cy="457200"/>
          </a:xfrm>
          <a:prstGeom prst="rect">
            <a:avLst/>
          </a:prstGeom>
          <a:solidFill>
            <a:srgbClr val="C9A96E"/>
          </a:solidFill>
          <a:ln/>
        </p:spPr>
      </p:sp>
      <p:sp>
        <p:nvSpPr>
          <p:cNvPr id="19" name="Text 17"/>
          <p:cNvSpPr/>
          <p:nvPr/>
        </p:nvSpPr>
        <p:spPr>
          <a:xfrm>
            <a:off x="585216" y="3236976"/>
            <a:ext cx="4023360" cy="219456"/>
          </a:xfrm>
          <a:prstGeom prst="rect">
            <a:avLst/>
          </a:prstGeom>
          <a:noFill/>
          <a:ln/>
        </p:spPr>
        <p:txBody>
          <a:bodyPr wrap="square" lIns="0" tIns="0" rIns="0" bIns="0" rtlCol="0" anchor="ctr"/>
          <a:lstStyle/>
          <a:p>
            <a:pPr indent="0" marL="0">
              <a:buNone/>
            </a:pPr>
            <a:r>
              <a:rPr lang="en-US" sz="900" b="1" dirty="0">
                <a:solidFill>
                  <a:srgbClr val="2C4A3E"/>
                </a:solidFill>
              </a:rPr>
              <a:t>02  Claude Structures the Prompt</a:t>
            </a:r>
            <a:endParaRPr lang="en-US" sz="900" dirty="0"/>
          </a:p>
        </p:txBody>
      </p:sp>
      <p:sp>
        <p:nvSpPr>
          <p:cNvPr id="20" name="Text 18"/>
          <p:cNvSpPr/>
          <p:nvPr/>
        </p:nvSpPr>
        <p:spPr>
          <a:xfrm>
            <a:off x="585216" y="3438144"/>
            <a:ext cx="4023360" cy="219456"/>
          </a:xfrm>
          <a:prstGeom prst="rect">
            <a:avLst/>
          </a:prstGeom>
          <a:noFill/>
          <a:ln/>
        </p:spPr>
        <p:txBody>
          <a:bodyPr wrap="square" lIns="0" tIns="0" rIns="0" bIns="0" rtlCol="0" anchor="ctr"/>
          <a:lstStyle/>
          <a:p>
            <a:pPr indent="0" marL="0">
              <a:buNone/>
            </a:pPr>
            <a:r>
              <a:rPr lang="en-US" sz="800" dirty="0">
                <a:solidFill>
                  <a:srgbClr val="5C5050"/>
                </a:solidFill>
              </a:rPr>
              <a:t>Claude builds a Higgsfield-ready prompt — camera direction, lighting specs, motion parameters.</a:t>
            </a:r>
            <a:endParaRPr lang="en-US" sz="800" dirty="0"/>
          </a:p>
        </p:txBody>
      </p:sp>
      <p:sp>
        <p:nvSpPr>
          <p:cNvPr id="21" name="Shape 19"/>
          <p:cNvSpPr/>
          <p:nvPr/>
        </p:nvSpPr>
        <p:spPr>
          <a:xfrm>
            <a:off x="457200" y="3767328"/>
            <a:ext cx="36576" cy="457200"/>
          </a:xfrm>
          <a:prstGeom prst="rect">
            <a:avLst/>
          </a:prstGeom>
          <a:solidFill>
            <a:srgbClr val="C9A96E"/>
          </a:solidFill>
          <a:ln/>
        </p:spPr>
      </p:sp>
      <p:sp>
        <p:nvSpPr>
          <p:cNvPr id="22" name="Text 20"/>
          <p:cNvSpPr/>
          <p:nvPr/>
        </p:nvSpPr>
        <p:spPr>
          <a:xfrm>
            <a:off x="585216" y="3785616"/>
            <a:ext cx="4023360" cy="219456"/>
          </a:xfrm>
          <a:prstGeom prst="rect">
            <a:avLst/>
          </a:prstGeom>
          <a:noFill/>
          <a:ln/>
        </p:spPr>
        <p:txBody>
          <a:bodyPr wrap="square" lIns="0" tIns="0" rIns="0" bIns="0" rtlCol="0" anchor="ctr"/>
          <a:lstStyle/>
          <a:p>
            <a:pPr indent="0" marL="0">
              <a:buNone/>
            </a:pPr>
            <a:r>
              <a:rPr lang="en-US" sz="900" b="1" dirty="0">
                <a:solidFill>
                  <a:srgbClr val="2C4A3E"/>
                </a:solidFill>
              </a:rPr>
              <a:t>03  Paste into Higgsfield</a:t>
            </a:r>
            <a:endParaRPr lang="en-US" sz="900" dirty="0"/>
          </a:p>
        </p:txBody>
      </p:sp>
      <p:sp>
        <p:nvSpPr>
          <p:cNvPr id="23" name="Text 21"/>
          <p:cNvSpPr/>
          <p:nvPr/>
        </p:nvSpPr>
        <p:spPr>
          <a:xfrm>
            <a:off x="585216" y="3986784"/>
            <a:ext cx="4023360" cy="219456"/>
          </a:xfrm>
          <a:prstGeom prst="rect">
            <a:avLst/>
          </a:prstGeom>
          <a:noFill/>
          <a:ln/>
        </p:spPr>
        <p:txBody>
          <a:bodyPr wrap="square" lIns="0" tIns="0" rIns="0" bIns="0" rtlCol="0" anchor="ctr"/>
          <a:lstStyle/>
          <a:p>
            <a:pPr indent="0" marL="0">
              <a:buNone/>
            </a:pPr>
            <a:r>
              <a:rPr lang="en-US" sz="800" dirty="0">
                <a:solidFill>
                  <a:srgbClr val="5C5050"/>
                </a:solidFill>
              </a:rPr>
              <a:t>Take the structured prompt and paste into Higgsfield's interface. It generates the video.</a:t>
            </a:r>
            <a:endParaRPr lang="en-US" sz="800" dirty="0"/>
          </a:p>
        </p:txBody>
      </p:sp>
      <p:sp>
        <p:nvSpPr>
          <p:cNvPr id="24" name="Shape 22"/>
          <p:cNvSpPr/>
          <p:nvPr/>
        </p:nvSpPr>
        <p:spPr>
          <a:xfrm>
            <a:off x="4937760" y="2670048"/>
            <a:ext cx="36576" cy="457200"/>
          </a:xfrm>
          <a:prstGeom prst="rect">
            <a:avLst/>
          </a:prstGeom>
          <a:solidFill>
            <a:srgbClr val="C9A96E"/>
          </a:solidFill>
          <a:ln/>
        </p:spPr>
      </p:sp>
      <p:sp>
        <p:nvSpPr>
          <p:cNvPr id="25" name="Text 23"/>
          <p:cNvSpPr/>
          <p:nvPr/>
        </p:nvSpPr>
        <p:spPr>
          <a:xfrm>
            <a:off x="5065776" y="2688336"/>
            <a:ext cx="4023360" cy="219456"/>
          </a:xfrm>
          <a:prstGeom prst="rect">
            <a:avLst/>
          </a:prstGeom>
          <a:noFill/>
          <a:ln/>
        </p:spPr>
        <p:txBody>
          <a:bodyPr wrap="square" lIns="0" tIns="0" rIns="0" bIns="0" rtlCol="0" anchor="ctr"/>
          <a:lstStyle/>
          <a:p>
            <a:pPr indent="0" marL="0">
              <a:buNone/>
            </a:pPr>
            <a:r>
              <a:rPr lang="en-US" sz="900" b="1" dirty="0">
                <a:solidFill>
                  <a:srgbClr val="2C4A3E"/>
                </a:solidFill>
              </a:rPr>
              <a:t>04  Iterate</a:t>
            </a:r>
            <a:endParaRPr lang="en-US" sz="900" dirty="0"/>
          </a:p>
        </p:txBody>
      </p:sp>
      <p:sp>
        <p:nvSpPr>
          <p:cNvPr id="26" name="Text 24"/>
          <p:cNvSpPr/>
          <p:nvPr/>
        </p:nvSpPr>
        <p:spPr>
          <a:xfrm>
            <a:off x="5065776" y="2889504"/>
            <a:ext cx="4023360" cy="219456"/>
          </a:xfrm>
          <a:prstGeom prst="rect">
            <a:avLst/>
          </a:prstGeom>
          <a:noFill/>
          <a:ln/>
        </p:spPr>
        <p:txBody>
          <a:bodyPr wrap="square" lIns="0" tIns="0" rIns="0" bIns="0" rtlCol="0" anchor="ctr"/>
          <a:lstStyle/>
          <a:p>
            <a:pPr indent="0" marL="0">
              <a:buNone/>
            </a:pPr>
            <a:r>
              <a:rPr lang="en-US" sz="800" dirty="0">
                <a:solidFill>
                  <a:srgbClr val="5C5050"/>
                </a:solidFill>
              </a:rPr>
              <a:t>Review the output. Describe changes to Claude — it refines the prompt. Repeat until perfect.</a:t>
            </a:r>
            <a:endParaRPr lang="en-US" sz="800" dirty="0"/>
          </a:p>
        </p:txBody>
      </p:sp>
      <p:sp>
        <p:nvSpPr>
          <p:cNvPr id="27" name="Shape 25"/>
          <p:cNvSpPr/>
          <p:nvPr/>
        </p:nvSpPr>
        <p:spPr>
          <a:xfrm>
            <a:off x="4937760" y="3218688"/>
            <a:ext cx="36576" cy="457200"/>
          </a:xfrm>
          <a:prstGeom prst="rect">
            <a:avLst/>
          </a:prstGeom>
          <a:solidFill>
            <a:srgbClr val="C9A96E"/>
          </a:solidFill>
          <a:ln/>
        </p:spPr>
      </p:sp>
      <p:sp>
        <p:nvSpPr>
          <p:cNvPr id="28" name="Text 26"/>
          <p:cNvSpPr/>
          <p:nvPr/>
        </p:nvSpPr>
        <p:spPr>
          <a:xfrm>
            <a:off x="5065776" y="3236976"/>
            <a:ext cx="4023360" cy="219456"/>
          </a:xfrm>
          <a:prstGeom prst="rect">
            <a:avLst/>
          </a:prstGeom>
          <a:noFill/>
          <a:ln/>
        </p:spPr>
        <p:txBody>
          <a:bodyPr wrap="square" lIns="0" tIns="0" rIns="0" bIns="0" rtlCol="0" anchor="ctr"/>
          <a:lstStyle/>
          <a:p>
            <a:pPr indent="0" marL="0">
              <a:buNone/>
            </a:pPr>
            <a:r>
              <a:rPr lang="en-US" sz="900" b="1" dirty="0">
                <a:solidFill>
                  <a:srgbClr val="2C4A3E"/>
                </a:solidFill>
              </a:rPr>
              <a:t>05  Edit &amp; Post</a:t>
            </a:r>
            <a:endParaRPr lang="en-US" sz="900" dirty="0"/>
          </a:p>
        </p:txBody>
      </p:sp>
      <p:sp>
        <p:nvSpPr>
          <p:cNvPr id="29" name="Text 27"/>
          <p:cNvSpPr/>
          <p:nvPr/>
        </p:nvSpPr>
        <p:spPr>
          <a:xfrm>
            <a:off x="5065776" y="3438144"/>
            <a:ext cx="4023360" cy="219456"/>
          </a:xfrm>
          <a:prstGeom prst="rect">
            <a:avLst/>
          </a:prstGeom>
          <a:noFill/>
          <a:ln/>
        </p:spPr>
        <p:txBody>
          <a:bodyPr wrap="square" lIns="0" tIns="0" rIns="0" bIns="0" rtlCol="0" anchor="ctr"/>
          <a:lstStyle/>
          <a:p>
            <a:pPr indent="0" marL="0">
              <a:buNone/>
            </a:pPr>
            <a:r>
              <a:rPr lang="en-US" sz="800" dirty="0">
                <a:solidFill>
                  <a:srgbClr val="5C5050"/>
                </a:solidFill>
              </a:rPr>
              <a:t>Take into CapCut. Add music, text overlays, brand elements. Export and post.</a:t>
            </a:r>
            <a:endParaRPr lang="en-US" sz="800" dirty="0"/>
          </a:p>
        </p:txBody>
      </p:sp>
      <p:sp>
        <p:nvSpPr>
          <p:cNvPr id="30" name="Shape 28"/>
          <p:cNvSpPr/>
          <p:nvPr/>
        </p:nvSpPr>
        <p:spPr>
          <a:xfrm>
            <a:off x="457200" y="4645152"/>
            <a:ext cx="8229600" cy="347472"/>
          </a:xfrm>
          <a:prstGeom prst="rect">
            <a:avLst/>
          </a:prstGeom>
          <a:solidFill>
            <a:srgbClr val="F7E8E1"/>
          </a:solidFill>
          <a:ln/>
        </p:spPr>
      </p:sp>
      <p:sp>
        <p:nvSpPr>
          <p:cNvPr id="31" name="Text 29"/>
          <p:cNvSpPr/>
          <p:nvPr/>
        </p:nvSpPr>
        <p:spPr>
          <a:xfrm>
            <a:off x="548640" y="4645152"/>
            <a:ext cx="8046720" cy="347472"/>
          </a:xfrm>
          <a:prstGeom prst="rect">
            <a:avLst/>
          </a:prstGeom>
          <a:noFill/>
          <a:ln/>
        </p:spPr>
        <p:txBody>
          <a:bodyPr wrap="square" lIns="0" tIns="0" rIns="0" bIns="0" rtlCol="0" anchor="ctr"/>
          <a:lstStyle/>
          <a:p>
            <a:pPr indent="0" marL="0">
              <a:buNone/>
            </a:pPr>
            <a:r>
              <a:rPr lang="en-US" sz="750" i="1" dirty="0">
                <a:solidFill>
                  <a:srgbClr val="7B5C4F"/>
                </a:solidFill>
              </a:rPr>
              <a:t>Note: This workflow requires MCP to be set up in your Claude environment. Beginners should start with direct Claude prompting before connecting via MCP.</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4A3E"/>
        </a:solidFill>
      </p:bgPr>
    </p:bg>
    <p:spTree>
      <p:nvGrpSpPr>
        <p:cNvPr id="1" name=""/>
        <p:cNvGrpSpPr/>
        <p:nvPr/>
      </p:nvGrpSpPr>
      <p:grpSpPr>
        <a:xfrm>
          <a:off x="0" y="0"/>
          <a:ext cx="0" cy="0"/>
          <a:chOff x="0" y="0"/>
          <a:chExt cx="0" cy="0"/>
        </a:xfrm>
      </p:grpSpPr>
      <p:sp>
        <p:nvSpPr>
          <p:cNvPr id="2" name="Text 0"/>
          <p:cNvSpPr/>
          <p:nvPr/>
        </p:nvSpPr>
        <p:spPr>
          <a:xfrm>
            <a:off x="457200" y="0"/>
            <a:ext cx="8229600" cy="3657600"/>
          </a:xfrm>
          <a:prstGeom prst="rect">
            <a:avLst/>
          </a:prstGeom>
          <a:noFill/>
          <a:ln/>
        </p:spPr>
        <p:txBody>
          <a:bodyPr wrap="square" lIns="0" tIns="0" rIns="0" bIns="0" rtlCol="0" anchor="ctr"/>
          <a:lstStyle/>
          <a:p>
            <a:pPr algn="ctr" indent="0" marL="0">
              <a:buNone/>
            </a:pPr>
            <a:r>
              <a:rPr lang="en-US" sz="16000" b="1" dirty="0">
                <a:solidFill>
                  <a:srgbClr val="1E3630"/>
                </a:solidFill>
              </a:rPr>
              <a:t>04</a:t>
            </a:r>
            <a:endParaRPr lang="en-US" sz="16000" dirty="0"/>
          </a:p>
        </p:txBody>
      </p:sp>
      <p:sp>
        <p:nvSpPr>
          <p:cNvPr id="3" name="Text 1"/>
          <p:cNvSpPr/>
          <p:nvPr/>
        </p:nvSpPr>
        <p:spPr>
          <a:xfrm>
            <a:off x="457200" y="1325880"/>
            <a:ext cx="8229600" cy="457200"/>
          </a:xfrm>
          <a:prstGeom prst="rect">
            <a:avLst/>
          </a:prstGeom>
          <a:noFill/>
          <a:ln/>
        </p:spPr>
        <p:txBody>
          <a:bodyPr wrap="square" lIns="0" tIns="0" rIns="0" bIns="0" rtlCol="0" anchor="ctr"/>
          <a:lstStyle/>
          <a:p>
            <a:pPr algn="ctr" indent="0" marL="0">
              <a:buNone/>
            </a:pPr>
            <a:r>
              <a:rPr lang="en-US" sz="1000" b="1" spc="500" kern="0" dirty="0">
                <a:solidFill>
                  <a:srgbClr val="C9A96E"/>
                </a:solidFill>
              </a:rPr>
              <a:t>SAMPLE PROMPTS</a:t>
            </a:r>
            <a:endParaRPr lang="en-US" sz="1000" dirty="0"/>
          </a:p>
        </p:txBody>
      </p:sp>
      <p:sp>
        <p:nvSpPr>
          <p:cNvPr id="4" name="Text 2"/>
          <p:cNvSpPr/>
          <p:nvPr/>
        </p:nvSpPr>
        <p:spPr>
          <a:xfrm>
            <a:off x="457200" y="1737360"/>
            <a:ext cx="8229600" cy="1280160"/>
          </a:xfrm>
          <a:prstGeom prst="rect">
            <a:avLst/>
          </a:prstGeom>
          <a:noFill/>
          <a:ln/>
        </p:spPr>
        <p:txBody>
          <a:bodyPr wrap="square" lIns="0" tIns="0" rIns="0" bIns="0" rtlCol="0" anchor="ctr"/>
          <a:lstStyle/>
          <a:p>
            <a:pPr algn="ctr" indent="0" marL="0">
              <a:buNone/>
            </a:pPr>
            <a:r>
              <a:rPr lang="en-US" sz="3000" b="1" dirty="0">
                <a:solidFill>
                  <a:srgbClr val="FFFFFF"/>
                </a:solidFill>
              </a:rPr>
              <a:t>Muse Prompt Examples</a:t>
            </a:r>
            <a:endParaRPr lang="en-US" sz="3000" dirty="0"/>
          </a:p>
          <a:p>
            <a:pPr algn="ctr" indent="0" marL="0">
              <a:buNone/>
            </a:pPr>
            <a:r>
              <a:rPr lang="en-US" sz="3000" b="1" dirty="0">
                <a:solidFill>
                  <a:srgbClr val="FFFFFF"/>
                </a:solidFill>
              </a:rPr>
              <a:t>From the Vault</a:t>
            </a:r>
            <a:endParaRPr lang="en-US" sz="3000" dirty="0"/>
          </a:p>
        </p:txBody>
      </p:sp>
      <p:sp>
        <p:nvSpPr>
          <p:cNvPr id="5" name="Text 3"/>
          <p:cNvSpPr/>
          <p:nvPr/>
        </p:nvSpPr>
        <p:spPr>
          <a:xfrm>
            <a:off x="914400" y="3090672"/>
            <a:ext cx="7315200" cy="347472"/>
          </a:xfrm>
          <a:prstGeom prst="rect">
            <a:avLst/>
          </a:prstGeom>
          <a:noFill/>
          <a:ln/>
        </p:spPr>
        <p:txBody>
          <a:bodyPr wrap="square" lIns="0" tIns="0" rIns="0" bIns="0" rtlCol="0" anchor="ctr"/>
          <a:lstStyle/>
          <a:p>
            <a:pPr algn="ctr" indent="0" marL="0">
              <a:buNone/>
            </a:pPr>
            <a:r>
              <a:rPr lang="en-US" sz="1100" i="1" dirty="0">
                <a:solidFill>
                  <a:srgbClr val="EACDC0"/>
                </a:solidFill>
              </a:rPr>
              <a:t>A small preview — the full vault has 2,000+ prompts inside AiMUSE Alchemy™</a:t>
            </a:r>
            <a:endParaRPr lang="en-US" sz="1100" dirty="0"/>
          </a:p>
        </p:txBody>
      </p:sp>
      <p:sp>
        <p:nvSpPr>
          <p:cNvPr id="6" name="Shape 4"/>
          <p:cNvSpPr/>
          <p:nvPr/>
        </p:nvSpPr>
        <p:spPr>
          <a:xfrm>
            <a:off x="3657600" y="3520440"/>
            <a:ext cx="1828800" cy="45720"/>
          </a:xfrm>
          <a:prstGeom prst="rect">
            <a:avLst/>
          </a:prstGeom>
          <a:solidFill>
            <a:srgbClr val="C9A96E"/>
          </a:solidFill>
          <a:ln/>
        </p:spPr>
      </p:sp>
      <p:pic>
        <p:nvPicPr>
          <p:cNvPr id="7" name="Image 0" descr="preencoded.png">    </p:cNvPr>
          <p:cNvPicPr>
            <a:picLocks noChangeAspect="1"/>
          </p:cNvPicPr>
          <p:nvPr/>
        </p:nvPicPr>
        <p:blipFill>
          <a:blip r:embed="rId1"/>
          <a:stretch>
            <a:fillRect/>
          </a:stretch>
        </p:blipFill>
        <p:spPr>
          <a:xfrm>
            <a:off x="7498080" y="4023360"/>
            <a:ext cx="1463040" cy="14538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F2"/>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4A3E"/>
          </a:solidFill>
          <a:ln/>
        </p:spPr>
      </p:sp>
      <p:sp>
        <p:nvSpPr>
          <p:cNvPr id="3" name="Text 1"/>
          <p:cNvSpPr/>
          <p:nvPr/>
        </p:nvSpPr>
        <p:spPr>
          <a:xfrm>
            <a:off x="457200" y="0"/>
            <a:ext cx="8229600" cy="640080"/>
          </a:xfrm>
          <a:prstGeom prst="rect">
            <a:avLst/>
          </a:prstGeom>
          <a:noFill/>
          <a:ln/>
        </p:spPr>
        <p:txBody>
          <a:bodyPr wrap="square" lIns="0" tIns="0" rIns="0" bIns="0" rtlCol="0" anchor="ctr"/>
          <a:lstStyle/>
          <a:p>
            <a:pPr algn="ctr" indent="0" marL="0">
              <a:buNone/>
            </a:pPr>
            <a:r>
              <a:rPr lang="en-US" sz="800" b="1" spc="300" kern="0" dirty="0">
                <a:solidFill>
                  <a:srgbClr val="C9A96E"/>
                </a:solidFill>
              </a:rPr>
              <a:t>MUSE PROMPT EXAMPLES · SAMPLE PREVIEW ONLY</a:t>
            </a:r>
            <a:endParaRPr lang="en-US" sz="800" dirty="0"/>
          </a:p>
        </p:txBody>
      </p:sp>
      <p:sp>
        <p:nvSpPr>
          <p:cNvPr id="4" name="Shape 2"/>
          <p:cNvSpPr/>
          <p:nvPr/>
        </p:nvSpPr>
        <p:spPr>
          <a:xfrm>
            <a:off x="320040" y="777240"/>
            <a:ext cx="4114800" cy="1325880"/>
          </a:xfrm>
          <a:prstGeom prst="rect">
            <a:avLst/>
          </a:prstGeom>
          <a:solidFill>
            <a:srgbClr val="FFFFFF"/>
          </a:solidFill>
          <a:ln/>
          <a:effectLst>
            <a:outerShdw sx="100000" sy="100000" kx="0" ky="0" algn="bl" rotWithShape="0" blurRad="76200" dist="12700" dir="8100000">
              <a:srgbClr val="000000">
                <a:alpha val="7000"/>
              </a:srgbClr>
            </a:outerShdw>
          </a:effectLst>
        </p:spPr>
      </p:sp>
      <p:sp>
        <p:nvSpPr>
          <p:cNvPr id="5" name="Shape 3"/>
          <p:cNvSpPr/>
          <p:nvPr/>
        </p:nvSpPr>
        <p:spPr>
          <a:xfrm>
            <a:off x="320040" y="777240"/>
            <a:ext cx="4114800" cy="274320"/>
          </a:xfrm>
          <a:prstGeom prst="rect">
            <a:avLst/>
          </a:prstGeom>
          <a:solidFill>
            <a:srgbClr val="2C4A3E"/>
          </a:solidFill>
          <a:ln/>
        </p:spPr>
      </p:sp>
      <p:sp>
        <p:nvSpPr>
          <p:cNvPr id="6" name="Text 4"/>
          <p:cNvSpPr/>
          <p:nvPr/>
        </p:nvSpPr>
        <p:spPr>
          <a:xfrm>
            <a:off x="411480" y="777240"/>
            <a:ext cx="3931920" cy="274320"/>
          </a:xfrm>
          <a:prstGeom prst="rect">
            <a:avLst/>
          </a:prstGeom>
          <a:noFill/>
          <a:ln/>
        </p:spPr>
        <p:txBody>
          <a:bodyPr wrap="square" lIns="0" tIns="0" rIns="0" bIns="0" rtlCol="0" anchor="ctr"/>
          <a:lstStyle/>
          <a:p>
            <a:pPr algn="l" indent="0" marL="0">
              <a:buNone/>
            </a:pPr>
            <a:r>
              <a:rPr lang="en-US" sz="750" b="1" spc="100" kern="0" dirty="0">
                <a:solidFill>
                  <a:srgbClr val="C9A96E"/>
                </a:solidFill>
              </a:rPr>
              <a:t>LUXURY LIFESTYLE · EDITORIAL</a:t>
            </a:r>
            <a:endParaRPr lang="en-US" sz="750" dirty="0"/>
          </a:p>
        </p:txBody>
      </p:sp>
      <p:sp>
        <p:nvSpPr>
          <p:cNvPr id="7" name="Text 5"/>
          <p:cNvSpPr/>
          <p:nvPr/>
        </p:nvSpPr>
        <p:spPr>
          <a:xfrm>
            <a:off x="411480" y="1097280"/>
            <a:ext cx="3931920" cy="932688"/>
          </a:xfrm>
          <a:prstGeom prst="rect">
            <a:avLst/>
          </a:prstGeom>
          <a:noFill/>
          <a:ln/>
        </p:spPr>
        <p:txBody>
          <a:bodyPr wrap="square" lIns="0" tIns="0" rIns="0" bIns="0" rtlCol="0" anchor="t"/>
          <a:lstStyle/>
          <a:p>
            <a:pPr algn="l" indent="0" marL="0">
              <a:buNone/>
            </a:pPr>
            <a:r>
              <a:rPr lang="en-US" sz="820" i="1" dirty="0">
                <a:solidFill>
                  <a:srgbClr val="4A3F3A"/>
                </a:solidFill>
              </a:rPr>
              <a:t>A hyper-realistic AI influencer woman at a floor-to-ceiling window in a Paris penthouse suite, golden hour light, white silk robe, calm expression, cinematic depth of field, fashion editorial style, muted luxury palette.</a:t>
            </a:r>
            <a:endParaRPr lang="en-US" sz="820" dirty="0"/>
          </a:p>
        </p:txBody>
      </p:sp>
      <p:sp>
        <p:nvSpPr>
          <p:cNvPr id="8" name="Shape 6"/>
          <p:cNvSpPr/>
          <p:nvPr/>
        </p:nvSpPr>
        <p:spPr>
          <a:xfrm>
            <a:off x="4754880" y="777240"/>
            <a:ext cx="4114800" cy="1325880"/>
          </a:xfrm>
          <a:prstGeom prst="rect">
            <a:avLst/>
          </a:prstGeom>
          <a:solidFill>
            <a:srgbClr val="FFFFFF"/>
          </a:solidFill>
          <a:ln/>
          <a:effectLst>
            <a:outerShdw sx="100000" sy="100000" kx="0" ky="0" algn="bl" rotWithShape="0" blurRad="76200" dist="12700" dir="8100000">
              <a:srgbClr val="000000">
                <a:alpha val="7000"/>
              </a:srgbClr>
            </a:outerShdw>
          </a:effectLst>
        </p:spPr>
      </p:sp>
      <p:sp>
        <p:nvSpPr>
          <p:cNvPr id="9" name="Shape 7"/>
          <p:cNvSpPr/>
          <p:nvPr/>
        </p:nvSpPr>
        <p:spPr>
          <a:xfrm>
            <a:off x="4754880" y="777240"/>
            <a:ext cx="4114800" cy="274320"/>
          </a:xfrm>
          <a:prstGeom prst="rect">
            <a:avLst/>
          </a:prstGeom>
          <a:solidFill>
            <a:srgbClr val="EACDC0"/>
          </a:solidFill>
          <a:ln/>
        </p:spPr>
      </p:sp>
      <p:sp>
        <p:nvSpPr>
          <p:cNvPr id="10" name="Text 8"/>
          <p:cNvSpPr/>
          <p:nvPr/>
        </p:nvSpPr>
        <p:spPr>
          <a:xfrm>
            <a:off x="4846320" y="777240"/>
            <a:ext cx="3931920" cy="274320"/>
          </a:xfrm>
          <a:prstGeom prst="rect">
            <a:avLst/>
          </a:prstGeom>
          <a:noFill/>
          <a:ln/>
        </p:spPr>
        <p:txBody>
          <a:bodyPr wrap="square" lIns="0" tIns="0" rIns="0" bIns="0" rtlCol="0" anchor="ctr"/>
          <a:lstStyle/>
          <a:p>
            <a:pPr algn="l" indent="0" marL="0">
              <a:buNone/>
            </a:pPr>
            <a:r>
              <a:rPr lang="en-US" sz="750" b="1" spc="100" kern="0" dirty="0">
                <a:solidFill>
                  <a:srgbClr val="2C4A3E"/>
                </a:solidFill>
              </a:rPr>
              <a:t>UGC BEAUTY · SKINCARE</a:t>
            </a:r>
            <a:endParaRPr lang="en-US" sz="750" dirty="0"/>
          </a:p>
        </p:txBody>
      </p:sp>
      <p:sp>
        <p:nvSpPr>
          <p:cNvPr id="11" name="Text 9"/>
          <p:cNvSpPr/>
          <p:nvPr/>
        </p:nvSpPr>
        <p:spPr>
          <a:xfrm>
            <a:off x="4846320" y="1097280"/>
            <a:ext cx="3931920" cy="932688"/>
          </a:xfrm>
          <a:prstGeom prst="rect">
            <a:avLst/>
          </a:prstGeom>
          <a:noFill/>
          <a:ln/>
        </p:spPr>
        <p:txBody>
          <a:bodyPr wrap="square" lIns="0" tIns="0" rIns="0" bIns="0" rtlCol="0" anchor="t"/>
          <a:lstStyle/>
          <a:p>
            <a:pPr algn="l" indent="0" marL="0">
              <a:buNone/>
            </a:pPr>
            <a:r>
              <a:rPr lang="en-US" sz="820" i="1" dirty="0">
                <a:solidFill>
                  <a:srgbClr val="4A3F3A"/>
                </a:solidFill>
              </a:rPr>
              <a:t>Close-up of an AI influencer holding a glass serum bottle near her face, soft studio lighting, dewy skin texture, warm beige blurred background, natural makeup, lifestyle skincare aesthetic, clean and premium.</a:t>
            </a:r>
            <a:endParaRPr lang="en-US" sz="820" dirty="0"/>
          </a:p>
        </p:txBody>
      </p:sp>
      <p:sp>
        <p:nvSpPr>
          <p:cNvPr id="12" name="Shape 10"/>
          <p:cNvSpPr/>
          <p:nvPr/>
        </p:nvSpPr>
        <p:spPr>
          <a:xfrm>
            <a:off x="320040" y="2212848"/>
            <a:ext cx="4114800" cy="1325880"/>
          </a:xfrm>
          <a:prstGeom prst="rect">
            <a:avLst/>
          </a:prstGeom>
          <a:solidFill>
            <a:srgbClr val="FFFFFF"/>
          </a:solidFill>
          <a:ln/>
          <a:effectLst>
            <a:outerShdw sx="100000" sy="100000" kx="0" ky="0" algn="bl" rotWithShape="0" blurRad="76200" dist="12700" dir="8100000">
              <a:srgbClr val="000000">
                <a:alpha val="7000"/>
              </a:srgbClr>
            </a:outerShdw>
          </a:effectLst>
        </p:spPr>
      </p:sp>
      <p:sp>
        <p:nvSpPr>
          <p:cNvPr id="13" name="Shape 11"/>
          <p:cNvSpPr/>
          <p:nvPr/>
        </p:nvSpPr>
        <p:spPr>
          <a:xfrm>
            <a:off x="320040" y="2212848"/>
            <a:ext cx="4114800" cy="274320"/>
          </a:xfrm>
          <a:prstGeom prst="rect">
            <a:avLst/>
          </a:prstGeom>
          <a:solidFill>
            <a:srgbClr val="7AB5B0"/>
          </a:solidFill>
          <a:ln/>
        </p:spPr>
      </p:sp>
      <p:sp>
        <p:nvSpPr>
          <p:cNvPr id="14" name="Text 12"/>
          <p:cNvSpPr/>
          <p:nvPr/>
        </p:nvSpPr>
        <p:spPr>
          <a:xfrm>
            <a:off x="411480" y="2212848"/>
            <a:ext cx="3931920" cy="274320"/>
          </a:xfrm>
          <a:prstGeom prst="rect">
            <a:avLst/>
          </a:prstGeom>
          <a:noFill/>
          <a:ln/>
        </p:spPr>
        <p:txBody>
          <a:bodyPr wrap="square" lIns="0" tIns="0" rIns="0" bIns="0" rtlCol="0" anchor="ctr"/>
          <a:lstStyle/>
          <a:p>
            <a:pPr algn="l" indent="0" marL="0">
              <a:buNone/>
            </a:pPr>
            <a:r>
              <a:rPr lang="en-US" sz="750" b="1" spc="100" kern="0" dirty="0">
                <a:solidFill>
                  <a:srgbClr val="2C4A3E"/>
                </a:solidFill>
              </a:rPr>
              <a:t>AI FASHION · EDITORIAL</a:t>
            </a:r>
            <a:endParaRPr lang="en-US" sz="750" dirty="0"/>
          </a:p>
        </p:txBody>
      </p:sp>
      <p:sp>
        <p:nvSpPr>
          <p:cNvPr id="15" name="Text 13"/>
          <p:cNvSpPr/>
          <p:nvPr/>
        </p:nvSpPr>
        <p:spPr>
          <a:xfrm>
            <a:off x="411480" y="2532888"/>
            <a:ext cx="3931920" cy="932688"/>
          </a:xfrm>
          <a:prstGeom prst="rect">
            <a:avLst/>
          </a:prstGeom>
          <a:noFill/>
          <a:ln/>
        </p:spPr>
        <p:txBody>
          <a:bodyPr wrap="square" lIns="0" tIns="0" rIns="0" bIns="0" rtlCol="0" anchor="t"/>
          <a:lstStyle/>
          <a:p>
            <a:pPr algn="l" indent="0" marL="0">
              <a:buNone/>
            </a:pPr>
            <a:r>
              <a:rPr lang="en-US" sz="820" i="1" dirty="0">
                <a:solidFill>
                  <a:srgbClr val="4A3F3A"/>
                </a:solidFill>
              </a:rPr>
              <a:t>Full-length shot of a dark-feminine AI influencer in a black structured blazer and wide-leg trousers, minimalist concrete architecture, dramatic side lighting, high fashion editorial mood, luxury brand aesthetic.</a:t>
            </a:r>
            <a:endParaRPr lang="en-US" sz="820" dirty="0"/>
          </a:p>
        </p:txBody>
      </p:sp>
      <p:sp>
        <p:nvSpPr>
          <p:cNvPr id="16" name="Shape 14"/>
          <p:cNvSpPr/>
          <p:nvPr/>
        </p:nvSpPr>
        <p:spPr>
          <a:xfrm>
            <a:off x="4754880" y="2212848"/>
            <a:ext cx="4114800" cy="1325880"/>
          </a:xfrm>
          <a:prstGeom prst="rect">
            <a:avLst/>
          </a:prstGeom>
          <a:solidFill>
            <a:srgbClr val="FFFFFF"/>
          </a:solidFill>
          <a:ln/>
          <a:effectLst>
            <a:outerShdw sx="100000" sy="100000" kx="0" ky="0" algn="bl" rotWithShape="0" blurRad="76200" dist="12700" dir="8100000">
              <a:srgbClr val="000000">
                <a:alpha val="7000"/>
              </a:srgbClr>
            </a:outerShdw>
          </a:effectLst>
        </p:spPr>
      </p:sp>
      <p:sp>
        <p:nvSpPr>
          <p:cNvPr id="17" name="Shape 15"/>
          <p:cNvSpPr/>
          <p:nvPr/>
        </p:nvSpPr>
        <p:spPr>
          <a:xfrm>
            <a:off x="4754880" y="2212848"/>
            <a:ext cx="4114800" cy="274320"/>
          </a:xfrm>
          <a:prstGeom prst="rect">
            <a:avLst/>
          </a:prstGeom>
          <a:solidFill>
            <a:srgbClr val="C9A96E"/>
          </a:solidFill>
          <a:ln/>
        </p:spPr>
      </p:sp>
      <p:sp>
        <p:nvSpPr>
          <p:cNvPr id="18" name="Text 16"/>
          <p:cNvSpPr/>
          <p:nvPr/>
        </p:nvSpPr>
        <p:spPr>
          <a:xfrm>
            <a:off x="4846320" y="2212848"/>
            <a:ext cx="3931920" cy="274320"/>
          </a:xfrm>
          <a:prstGeom prst="rect">
            <a:avLst/>
          </a:prstGeom>
          <a:noFill/>
          <a:ln/>
        </p:spPr>
        <p:txBody>
          <a:bodyPr wrap="square" lIns="0" tIns="0" rIns="0" bIns="0" rtlCol="0" anchor="ctr"/>
          <a:lstStyle/>
          <a:p>
            <a:pPr algn="l" indent="0" marL="0">
              <a:buNone/>
            </a:pPr>
            <a:r>
              <a:rPr lang="en-US" sz="750" b="1" spc="100" kern="0" dirty="0">
                <a:solidFill>
                  <a:srgbClr val="2C4A3E"/>
                </a:solidFill>
              </a:rPr>
              <a:t>CAR SELFIE · ASPIRATIONAL</a:t>
            </a:r>
            <a:endParaRPr lang="en-US" sz="750" dirty="0"/>
          </a:p>
        </p:txBody>
      </p:sp>
      <p:sp>
        <p:nvSpPr>
          <p:cNvPr id="19" name="Text 17"/>
          <p:cNvSpPr/>
          <p:nvPr/>
        </p:nvSpPr>
        <p:spPr>
          <a:xfrm>
            <a:off x="4846320" y="2532888"/>
            <a:ext cx="3931920" cy="932688"/>
          </a:xfrm>
          <a:prstGeom prst="rect">
            <a:avLst/>
          </a:prstGeom>
          <a:noFill/>
          <a:ln/>
        </p:spPr>
        <p:txBody>
          <a:bodyPr wrap="square" lIns="0" tIns="0" rIns="0" bIns="0" rtlCol="0" anchor="t"/>
          <a:lstStyle/>
          <a:p>
            <a:pPr algn="l" indent="0" marL="0">
              <a:buNone/>
            </a:pPr>
            <a:r>
              <a:rPr lang="en-US" sz="820" i="1" dirty="0">
                <a:solidFill>
                  <a:srgbClr val="4A3F3A"/>
                </a:solidFill>
              </a:rPr>
              <a:t>AI influencer woman in a black Rolls Royce Ghost, window down, golden sunset, oversized sunglasses and gold jewelry, candid lifestyle moment, warm cinematic color grade, aspirational soft life aesthetic.</a:t>
            </a:r>
            <a:endParaRPr lang="en-US" sz="820" dirty="0"/>
          </a:p>
        </p:txBody>
      </p:sp>
      <p:sp>
        <p:nvSpPr>
          <p:cNvPr id="20" name="Shape 18"/>
          <p:cNvSpPr/>
          <p:nvPr/>
        </p:nvSpPr>
        <p:spPr>
          <a:xfrm>
            <a:off x="320040" y="3648456"/>
            <a:ext cx="4114800" cy="1325880"/>
          </a:xfrm>
          <a:prstGeom prst="rect">
            <a:avLst/>
          </a:prstGeom>
          <a:solidFill>
            <a:srgbClr val="FFFFFF"/>
          </a:solidFill>
          <a:ln/>
          <a:effectLst>
            <a:outerShdw sx="100000" sy="100000" kx="0" ky="0" algn="bl" rotWithShape="0" blurRad="76200" dist="12700" dir="8100000">
              <a:srgbClr val="000000">
                <a:alpha val="7000"/>
              </a:srgbClr>
            </a:outerShdw>
          </a:effectLst>
        </p:spPr>
      </p:sp>
      <p:sp>
        <p:nvSpPr>
          <p:cNvPr id="21" name="Shape 19"/>
          <p:cNvSpPr/>
          <p:nvPr/>
        </p:nvSpPr>
        <p:spPr>
          <a:xfrm>
            <a:off x="320040" y="3648456"/>
            <a:ext cx="4114800" cy="274320"/>
          </a:xfrm>
          <a:prstGeom prst="rect">
            <a:avLst/>
          </a:prstGeom>
          <a:solidFill>
            <a:srgbClr val="F7E8E1"/>
          </a:solidFill>
          <a:ln/>
        </p:spPr>
      </p:sp>
      <p:sp>
        <p:nvSpPr>
          <p:cNvPr id="22" name="Text 20"/>
          <p:cNvSpPr/>
          <p:nvPr/>
        </p:nvSpPr>
        <p:spPr>
          <a:xfrm>
            <a:off x="411480" y="3648456"/>
            <a:ext cx="3931920" cy="274320"/>
          </a:xfrm>
          <a:prstGeom prst="rect">
            <a:avLst/>
          </a:prstGeom>
          <a:noFill/>
          <a:ln/>
        </p:spPr>
        <p:txBody>
          <a:bodyPr wrap="square" lIns="0" tIns="0" rIns="0" bIns="0" rtlCol="0" anchor="ctr"/>
          <a:lstStyle/>
          <a:p>
            <a:pPr algn="l" indent="0" marL="0">
              <a:buNone/>
            </a:pPr>
            <a:r>
              <a:rPr lang="en-US" sz="750" b="1" spc="100" kern="0" dirty="0">
                <a:solidFill>
                  <a:srgbClr val="2C4A3E"/>
                </a:solidFill>
              </a:rPr>
              <a:t>CAROUSEL · EMPOWERMENT</a:t>
            </a:r>
            <a:endParaRPr lang="en-US" sz="750" dirty="0"/>
          </a:p>
        </p:txBody>
      </p:sp>
      <p:sp>
        <p:nvSpPr>
          <p:cNvPr id="23" name="Text 21"/>
          <p:cNvSpPr/>
          <p:nvPr/>
        </p:nvSpPr>
        <p:spPr>
          <a:xfrm>
            <a:off x="411480" y="3968496"/>
            <a:ext cx="3931920" cy="932688"/>
          </a:xfrm>
          <a:prstGeom prst="rect">
            <a:avLst/>
          </a:prstGeom>
          <a:noFill/>
          <a:ln/>
        </p:spPr>
        <p:txBody>
          <a:bodyPr wrap="square" lIns="0" tIns="0" rIns="0" bIns="0" rtlCol="0" anchor="t"/>
          <a:lstStyle/>
          <a:p>
            <a:pPr algn="l" indent="0" marL="0">
              <a:buNone/>
            </a:pPr>
            <a:r>
              <a:rPr lang="en-US" sz="820" i="1" dirty="0">
                <a:solidFill>
                  <a:srgbClr val="4A3F3A"/>
                </a:solidFill>
              </a:rPr>
              <a:t>Minimalist typographic Instagram carousel slide, blush cream background, elegant serif font in deep plum, single authority quote centered, thin gold border frame, Boss Era aesthetic, clean and premium, white space dominant.</a:t>
            </a:r>
            <a:endParaRPr lang="en-US" sz="820" dirty="0"/>
          </a:p>
        </p:txBody>
      </p:sp>
      <p:sp>
        <p:nvSpPr>
          <p:cNvPr id="24" name="Shape 22"/>
          <p:cNvSpPr/>
          <p:nvPr/>
        </p:nvSpPr>
        <p:spPr>
          <a:xfrm>
            <a:off x="4754880" y="3648456"/>
            <a:ext cx="4114800" cy="1325880"/>
          </a:xfrm>
          <a:prstGeom prst="rect">
            <a:avLst/>
          </a:prstGeom>
          <a:solidFill>
            <a:srgbClr val="FFFFFF"/>
          </a:solidFill>
          <a:ln/>
          <a:effectLst>
            <a:outerShdw sx="100000" sy="100000" kx="0" ky="0" algn="bl" rotWithShape="0" blurRad="76200" dist="12700" dir="8100000">
              <a:srgbClr val="000000">
                <a:alpha val="7000"/>
              </a:srgbClr>
            </a:outerShdw>
          </a:effectLst>
        </p:spPr>
      </p:sp>
      <p:sp>
        <p:nvSpPr>
          <p:cNvPr id="25" name="Shape 23"/>
          <p:cNvSpPr/>
          <p:nvPr/>
        </p:nvSpPr>
        <p:spPr>
          <a:xfrm>
            <a:off x="4754880" y="3648456"/>
            <a:ext cx="4114800" cy="274320"/>
          </a:xfrm>
          <a:prstGeom prst="rect">
            <a:avLst/>
          </a:prstGeom>
          <a:solidFill>
            <a:srgbClr val="2C2C2C"/>
          </a:solidFill>
          <a:ln/>
        </p:spPr>
      </p:sp>
      <p:sp>
        <p:nvSpPr>
          <p:cNvPr id="26" name="Text 24"/>
          <p:cNvSpPr/>
          <p:nvPr/>
        </p:nvSpPr>
        <p:spPr>
          <a:xfrm>
            <a:off x="4846320" y="3648456"/>
            <a:ext cx="3931920" cy="274320"/>
          </a:xfrm>
          <a:prstGeom prst="rect">
            <a:avLst/>
          </a:prstGeom>
          <a:noFill/>
          <a:ln/>
        </p:spPr>
        <p:txBody>
          <a:bodyPr wrap="square" lIns="0" tIns="0" rIns="0" bIns="0" rtlCol="0" anchor="ctr"/>
          <a:lstStyle/>
          <a:p>
            <a:pPr algn="l" indent="0" marL="0">
              <a:buNone/>
            </a:pPr>
            <a:r>
              <a:rPr lang="en-US" sz="750" b="1" spc="100" kern="0" dirty="0">
                <a:solidFill>
                  <a:srgbClr val="C9A96E"/>
                </a:solidFill>
              </a:rPr>
              <a:t>DARK FEMININE · POWER</a:t>
            </a:r>
            <a:endParaRPr lang="en-US" sz="750" dirty="0"/>
          </a:p>
        </p:txBody>
      </p:sp>
      <p:sp>
        <p:nvSpPr>
          <p:cNvPr id="27" name="Text 25"/>
          <p:cNvSpPr/>
          <p:nvPr/>
        </p:nvSpPr>
        <p:spPr>
          <a:xfrm>
            <a:off x="4846320" y="3968496"/>
            <a:ext cx="3931920" cy="932688"/>
          </a:xfrm>
          <a:prstGeom prst="rect">
            <a:avLst/>
          </a:prstGeom>
          <a:noFill/>
          <a:ln/>
        </p:spPr>
        <p:txBody>
          <a:bodyPr wrap="square" lIns="0" tIns="0" rIns="0" bIns="0" rtlCol="0" anchor="t"/>
          <a:lstStyle/>
          <a:p>
            <a:pPr algn="l" indent="0" marL="0">
              <a:buNone/>
            </a:pPr>
            <a:r>
              <a:rPr lang="en-US" sz="820" i="1" dirty="0">
                <a:solidFill>
                  <a:srgbClr val="4A3F3A"/>
                </a:solidFill>
              </a:rPr>
              <a:t>AI influencer woman at a marble desk with a glass of champagne, luxury items — Chanel bag, gold jewelry, laptop, dramatic low-key lighting, rich dark tones, powerful and mysterious energy, cinematic noir aesthetic.</a:t>
            </a:r>
            <a:endParaRPr lang="en-US" sz="820" dirty="0"/>
          </a:p>
        </p:txBody>
      </p:sp>
      <p:sp>
        <p:nvSpPr>
          <p:cNvPr id="28" name="Shape 26"/>
          <p:cNvSpPr/>
          <p:nvPr/>
        </p:nvSpPr>
        <p:spPr>
          <a:xfrm>
            <a:off x="0" y="4759452"/>
            <a:ext cx="9144000" cy="384048"/>
          </a:xfrm>
          <a:prstGeom prst="rect">
            <a:avLst/>
          </a:prstGeom>
          <a:solidFill>
            <a:srgbClr val="F5EFE8"/>
          </a:solidFill>
          <a:ln/>
        </p:spPr>
      </p:sp>
      <p:sp>
        <p:nvSpPr>
          <p:cNvPr id="29" name="Text 27"/>
          <p:cNvSpPr/>
          <p:nvPr/>
        </p:nvSpPr>
        <p:spPr>
          <a:xfrm>
            <a:off x="457200" y="4759452"/>
            <a:ext cx="8229600" cy="384048"/>
          </a:xfrm>
          <a:prstGeom prst="rect">
            <a:avLst/>
          </a:prstGeom>
          <a:noFill/>
          <a:ln/>
        </p:spPr>
        <p:txBody>
          <a:bodyPr wrap="square" lIns="0" tIns="0" rIns="0" bIns="0" rtlCol="0" anchor="ctr"/>
          <a:lstStyle/>
          <a:p>
            <a:pPr algn="ctr" indent="0" marL="0">
              <a:buNone/>
            </a:pPr>
            <a:r>
              <a:rPr lang="en-US" sz="750" i="1" dirty="0">
                <a:solidFill>
                  <a:srgbClr val="9B8577"/>
                </a:solidFill>
              </a:rPr>
              <a:t>These 6 prompts are examples only. AiMUSE Alchemy™ contains 2,000+ categorized prompts across every content category.</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CDC0"/>
        </a:solidFill>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2C4A3E"/>
          </a:solidFill>
          <a:ln/>
        </p:spPr>
      </p:sp>
      <p:pic>
        <p:nvPicPr>
          <p:cNvPr id="3" name="Image 0" descr="preencoded.png">    </p:cNvPr>
          <p:cNvPicPr>
            <a:picLocks noChangeAspect="1"/>
          </p:cNvPicPr>
          <p:nvPr/>
        </p:nvPicPr>
        <p:blipFill>
          <a:blip r:embed="rId1"/>
          <a:stretch>
            <a:fillRect/>
          </a:stretch>
        </p:blipFill>
        <p:spPr>
          <a:xfrm>
            <a:off x="548640" y="457200"/>
            <a:ext cx="2560320" cy="2542032"/>
          </a:xfrm>
          <a:prstGeom prst="rect">
            <a:avLst/>
          </a:prstGeom>
        </p:spPr>
      </p:pic>
      <p:sp>
        <p:nvSpPr>
          <p:cNvPr id="4" name="Text 1"/>
          <p:cNvSpPr/>
          <p:nvPr/>
        </p:nvSpPr>
        <p:spPr>
          <a:xfrm>
            <a:off x="457200" y="3218688"/>
            <a:ext cx="2926080" cy="274320"/>
          </a:xfrm>
          <a:prstGeom prst="rect">
            <a:avLst/>
          </a:prstGeom>
          <a:noFill/>
          <a:ln/>
        </p:spPr>
        <p:txBody>
          <a:bodyPr wrap="square" lIns="0" tIns="0" rIns="0" bIns="0" rtlCol="0" anchor="ctr"/>
          <a:lstStyle/>
          <a:p>
            <a:pPr algn="ctr" indent="0" marL="0">
              <a:buNone/>
            </a:pPr>
            <a:r>
              <a:rPr lang="en-US" sz="850" i="1" dirty="0">
                <a:solidFill>
                  <a:srgbClr val="C9A96E"/>
                </a:solidFill>
              </a:rPr>
              <a:t>bossfacelessmentor.com</a:t>
            </a:r>
            <a:endParaRPr lang="en-US" sz="850" dirty="0"/>
          </a:p>
        </p:txBody>
      </p:sp>
      <p:sp>
        <p:nvSpPr>
          <p:cNvPr id="5" name="Text 2"/>
          <p:cNvSpPr/>
          <p:nvPr/>
        </p:nvSpPr>
        <p:spPr>
          <a:xfrm>
            <a:off x="457200" y="3566160"/>
            <a:ext cx="2926080" cy="274320"/>
          </a:xfrm>
          <a:prstGeom prst="rect">
            <a:avLst/>
          </a:prstGeom>
          <a:noFill/>
          <a:ln/>
        </p:spPr>
        <p:txBody>
          <a:bodyPr wrap="square" lIns="0" tIns="0" rIns="0" bIns="0" rtlCol="0" anchor="ctr"/>
          <a:lstStyle/>
          <a:p>
            <a:pPr algn="ctr" indent="0" marL="0">
              <a:buNone/>
            </a:pPr>
            <a:r>
              <a:rPr lang="en-US" sz="900" dirty="0">
                <a:solidFill>
                  <a:srgbClr val="EACDC0"/>
                </a:solidFill>
              </a:rPr>
              <a:t>@bossdigitalbusiness</a:t>
            </a:r>
            <a:endParaRPr lang="en-US" sz="900" dirty="0"/>
          </a:p>
        </p:txBody>
      </p:sp>
      <p:sp>
        <p:nvSpPr>
          <p:cNvPr id="6" name="Text 3"/>
          <p:cNvSpPr/>
          <p:nvPr/>
        </p:nvSpPr>
        <p:spPr>
          <a:xfrm>
            <a:off x="457200" y="4160520"/>
            <a:ext cx="2926080" cy="502920"/>
          </a:xfrm>
          <a:prstGeom prst="rect">
            <a:avLst/>
          </a:prstGeom>
          <a:noFill/>
          <a:ln/>
        </p:spPr>
        <p:txBody>
          <a:bodyPr wrap="square" lIns="0" tIns="0" rIns="0" bIns="0" rtlCol="0" anchor="ctr"/>
          <a:lstStyle/>
          <a:p>
            <a:pPr algn="ctr" indent="0" marL="0">
              <a:buNone/>
            </a:pPr>
            <a:r>
              <a:rPr lang="en-US" sz="950" i="1" dirty="0">
                <a:solidFill>
                  <a:srgbClr val="D9CFC6"/>
                </a:solidFill>
              </a:rPr>
              <a:t>Build like the future depends on you.</a:t>
            </a:r>
            <a:endParaRPr lang="en-US" sz="950" dirty="0"/>
          </a:p>
        </p:txBody>
      </p:sp>
      <p:sp>
        <p:nvSpPr>
          <p:cNvPr id="7" name="Text 4"/>
          <p:cNvSpPr/>
          <p:nvPr/>
        </p:nvSpPr>
        <p:spPr>
          <a:xfrm>
            <a:off x="4114800" y="548640"/>
            <a:ext cx="4754880" cy="411480"/>
          </a:xfrm>
          <a:prstGeom prst="rect">
            <a:avLst/>
          </a:prstGeom>
          <a:noFill/>
          <a:ln/>
        </p:spPr>
        <p:txBody>
          <a:bodyPr wrap="square" lIns="0" tIns="0" rIns="0" bIns="0" rtlCol="0" anchor="ctr"/>
          <a:lstStyle/>
          <a:p>
            <a:pPr algn="l" indent="0" marL="0">
              <a:buNone/>
            </a:pPr>
            <a:r>
              <a:rPr lang="en-US" sz="1200" b="1" spc="200" kern="0" dirty="0">
                <a:solidFill>
                  <a:srgbClr val="2C4A3E"/>
                </a:solidFill>
              </a:rPr>
              <a:t>YOU HAVE THE FRAMEWORK.</a:t>
            </a:r>
            <a:endParaRPr lang="en-US" sz="1200" dirty="0"/>
          </a:p>
        </p:txBody>
      </p:sp>
      <p:sp>
        <p:nvSpPr>
          <p:cNvPr id="8" name="Text 5"/>
          <p:cNvSpPr/>
          <p:nvPr/>
        </p:nvSpPr>
        <p:spPr>
          <a:xfrm>
            <a:off x="4114800" y="960120"/>
            <a:ext cx="4754880" cy="548640"/>
          </a:xfrm>
          <a:prstGeom prst="rect">
            <a:avLst/>
          </a:prstGeom>
          <a:noFill/>
          <a:ln/>
        </p:spPr>
        <p:txBody>
          <a:bodyPr wrap="square" lIns="0" tIns="0" rIns="0" bIns="0" rtlCol="0" anchor="ctr"/>
          <a:lstStyle/>
          <a:p>
            <a:pPr algn="l" indent="0" marL="0">
              <a:buNone/>
            </a:pPr>
            <a:r>
              <a:rPr lang="en-US" sz="2400" b="1" dirty="0">
                <a:solidFill>
                  <a:srgbClr val="2C4A3E"/>
                </a:solidFill>
              </a:rPr>
              <a:t>Now get the complete system.</a:t>
            </a:r>
            <a:endParaRPr lang="en-US" sz="2400" dirty="0"/>
          </a:p>
        </p:txBody>
      </p:sp>
      <p:sp>
        <p:nvSpPr>
          <p:cNvPr id="9" name="Text 6"/>
          <p:cNvSpPr/>
          <p:nvPr/>
        </p:nvSpPr>
        <p:spPr>
          <a:xfrm>
            <a:off x="4114800" y="1627632"/>
            <a:ext cx="4663440" cy="475488"/>
          </a:xfrm>
          <a:prstGeom prst="rect">
            <a:avLst/>
          </a:prstGeom>
          <a:noFill/>
          <a:ln/>
        </p:spPr>
        <p:txBody>
          <a:bodyPr wrap="square" lIns="0" tIns="0" rIns="0" bIns="0" rtlCol="0" anchor="ctr"/>
          <a:lstStyle/>
          <a:p>
            <a:pPr algn="l" indent="0" marL="0">
              <a:buNone/>
            </a:pPr>
            <a:r>
              <a:rPr lang="en-US" sz="1000" i="1" dirty="0">
                <a:solidFill>
                  <a:srgbClr val="6B4C3B"/>
                </a:solidFill>
              </a:rPr>
              <a:t>AiMUSE Alchemy™ gives you everything this guide introduced — at full scale.</a:t>
            </a:r>
            <a:endParaRPr lang="en-US" sz="1000" dirty="0"/>
          </a:p>
        </p:txBody>
      </p:sp>
      <p:sp>
        <p:nvSpPr>
          <p:cNvPr id="10" name="Text 7"/>
          <p:cNvSpPr/>
          <p:nvPr/>
        </p:nvSpPr>
        <p:spPr>
          <a:xfrm>
            <a:off x="4114800" y="2176272"/>
            <a:ext cx="4663440" cy="329184"/>
          </a:xfrm>
          <a:prstGeom prst="rect">
            <a:avLst/>
          </a:prstGeom>
          <a:noFill/>
          <a:ln/>
        </p:spPr>
        <p:txBody>
          <a:bodyPr wrap="square" lIns="0" tIns="0" rIns="0" bIns="0" rtlCol="0" anchor="ctr"/>
          <a:lstStyle/>
          <a:p>
            <a:pPr algn="l" indent="0" marL="0">
              <a:buNone/>
            </a:pPr>
            <a:r>
              <a:rPr lang="en-US" sz="950" dirty="0">
                <a:solidFill>
                  <a:srgbClr val="2C4A3E"/>
                </a:solidFill>
              </a:rPr>
              <a:t>✦  1,600+ Muses — categorized, searchable, ready to deploy</a:t>
            </a:r>
            <a:endParaRPr lang="en-US" sz="950" dirty="0"/>
          </a:p>
        </p:txBody>
      </p:sp>
      <p:sp>
        <p:nvSpPr>
          <p:cNvPr id="11" name="Text 8"/>
          <p:cNvSpPr/>
          <p:nvPr/>
        </p:nvSpPr>
        <p:spPr>
          <a:xfrm>
            <a:off x="4114800" y="2523744"/>
            <a:ext cx="4663440" cy="329184"/>
          </a:xfrm>
          <a:prstGeom prst="rect">
            <a:avLst/>
          </a:prstGeom>
          <a:noFill/>
          <a:ln/>
        </p:spPr>
        <p:txBody>
          <a:bodyPr wrap="square" lIns="0" tIns="0" rIns="0" bIns="0" rtlCol="0" anchor="ctr"/>
          <a:lstStyle/>
          <a:p>
            <a:pPr algn="l" indent="0" marL="0">
              <a:buNone/>
            </a:pPr>
            <a:r>
              <a:rPr lang="en-US" sz="950" dirty="0">
                <a:solidFill>
                  <a:srgbClr val="2C4A3E"/>
                </a:solidFill>
              </a:rPr>
              <a:t>✦  2,000+ AI prompts across every content category</a:t>
            </a:r>
            <a:endParaRPr lang="en-US" sz="950" dirty="0"/>
          </a:p>
        </p:txBody>
      </p:sp>
      <p:sp>
        <p:nvSpPr>
          <p:cNvPr id="12" name="Text 9"/>
          <p:cNvSpPr/>
          <p:nvPr/>
        </p:nvSpPr>
        <p:spPr>
          <a:xfrm>
            <a:off x="4114800" y="2871216"/>
            <a:ext cx="4663440" cy="329184"/>
          </a:xfrm>
          <a:prstGeom prst="rect">
            <a:avLst/>
          </a:prstGeom>
          <a:noFill/>
          <a:ln/>
        </p:spPr>
        <p:txBody>
          <a:bodyPr wrap="square" lIns="0" tIns="0" rIns="0" bIns="0" rtlCol="0" anchor="ctr"/>
          <a:lstStyle/>
          <a:p>
            <a:pPr algn="l" indent="0" marL="0">
              <a:buNone/>
            </a:pPr>
            <a:r>
              <a:rPr lang="en-US" sz="950" dirty="0">
                <a:solidFill>
                  <a:srgbClr val="2C4A3E"/>
                </a:solidFill>
              </a:rPr>
              <a:t>✦  4 AI Director Bots — Video, Prompt, Luxury, Motion</a:t>
            </a:r>
            <a:endParaRPr lang="en-US" sz="950" dirty="0"/>
          </a:p>
        </p:txBody>
      </p:sp>
      <p:sp>
        <p:nvSpPr>
          <p:cNvPr id="13" name="Text 10"/>
          <p:cNvSpPr/>
          <p:nvPr/>
        </p:nvSpPr>
        <p:spPr>
          <a:xfrm>
            <a:off x="4114800" y="3218688"/>
            <a:ext cx="4663440" cy="329184"/>
          </a:xfrm>
          <a:prstGeom prst="rect">
            <a:avLst/>
          </a:prstGeom>
          <a:noFill/>
          <a:ln/>
        </p:spPr>
        <p:txBody>
          <a:bodyPr wrap="square" lIns="0" tIns="0" rIns="0" bIns="0" rtlCol="0" anchor="ctr"/>
          <a:lstStyle/>
          <a:p>
            <a:pPr algn="l" indent="0" marL="0">
              <a:buNone/>
            </a:pPr>
            <a:r>
              <a:rPr lang="en-US" sz="950" dirty="0">
                <a:solidFill>
                  <a:srgbClr val="2C4A3E"/>
                </a:solidFill>
              </a:rPr>
              <a:t>✦  9 complete creation modules</a:t>
            </a:r>
            <a:endParaRPr lang="en-US" sz="950" dirty="0"/>
          </a:p>
        </p:txBody>
      </p:sp>
      <p:sp>
        <p:nvSpPr>
          <p:cNvPr id="14" name="Text 11"/>
          <p:cNvSpPr/>
          <p:nvPr/>
        </p:nvSpPr>
        <p:spPr>
          <a:xfrm>
            <a:off x="4114800" y="3566160"/>
            <a:ext cx="4663440" cy="329184"/>
          </a:xfrm>
          <a:prstGeom prst="rect">
            <a:avLst/>
          </a:prstGeom>
          <a:noFill/>
          <a:ln/>
        </p:spPr>
        <p:txBody>
          <a:bodyPr wrap="square" lIns="0" tIns="0" rIns="0" bIns="0" rtlCol="0" anchor="ctr"/>
          <a:lstStyle/>
          <a:p>
            <a:pPr algn="l" indent="0" marL="0">
              <a:buNone/>
            </a:pPr>
            <a:r>
              <a:rPr lang="en-US" sz="950" dirty="0">
                <a:solidFill>
                  <a:srgbClr val="2C4A3E"/>
                </a:solidFill>
              </a:rPr>
              <a:t>✦  A growing community of AI creators</a:t>
            </a:r>
            <a:endParaRPr lang="en-US" sz="950" dirty="0"/>
          </a:p>
        </p:txBody>
      </p:sp>
      <p:sp>
        <p:nvSpPr>
          <p:cNvPr id="15" name="Shape 12"/>
          <p:cNvSpPr/>
          <p:nvPr/>
        </p:nvSpPr>
        <p:spPr>
          <a:xfrm>
            <a:off x="4114800" y="4041648"/>
            <a:ext cx="2743200" cy="566928"/>
          </a:xfrm>
          <a:prstGeom prst="rect">
            <a:avLst/>
          </a:prstGeom>
          <a:solidFill>
            <a:srgbClr val="2C4A3E"/>
          </a:solidFill>
          <a:ln/>
        </p:spPr>
      </p:sp>
      <p:sp>
        <p:nvSpPr>
          <p:cNvPr id="16" name="Text 13"/>
          <p:cNvSpPr/>
          <p:nvPr/>
        </p:nvSpPr>
        <p:spPr>
          <a:xfrm>
            <a:off x="4114800" y="4041648"/>
            <a:ext cx="2743200" cy="566928"/>
          </a:xfrm>
          <a:prstGeom prst="rect">
            <a:avLst/>
          </a:prstGeom>
          <a:noFill/>
          <a:ln/>
        </p:spPr>
        <p:txBody>
          <a:bodyPr wrap="square" lIns="0" tIns="0" rIns="0" bIns="0" rtlCol="0" anchor="ctr"/>
          <a:lstStyle/>
          <a:p>
            <a:pPr algn="ctr" indent="0" marL="0">
              <a:buNone/>
            </a:pPr>
            <a:r>
              <a:rPr lang="en-US" sz="1050" b="1" dirty="0">
                <a:solidFill>
                  <a:srgbClr val="C9A96E"/>
                </a:solidFill>
              </a:rPr>
              <a:t>JOIN AiMUSE ALCHEMY™ →</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Start Building an AI Influencer</dc:title>
  <dc:subject>PptxGenJS Presentation</dc:subject>
  <dc:creator>PptxGenJS</dc:creator>
  <cp:lastModifiedBy>PptxGenJS</cp:lastModifiedBy>
  <cp:revision>1</cp:revision>
  <dcterms:created xsi:type="dcterms:W3CDTF">2026-05-22T18:58:49Z</dcterms:created>
  <dcterms:modified xsi:type="dcterms:W3CDTF">2026-05-22T18:58:49Z</dcterms:modified>
</cp:coreProperties>
</file>